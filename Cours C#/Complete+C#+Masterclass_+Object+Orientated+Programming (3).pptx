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Roboto"/>
      <p:regular r:id="rId45"/>
      <p:bold r:id="rId46"/>
      <p:italic r:id="rId47"/>
      <p:boldItalic r:id="rId48"/>
    </p:embeddedFont>
    <p:embeddedFont>
      <p:font typeface="Playfair Display"/>
      <p:regular r:id="rId49"/>
      <p:bold r:id="rId50"/>
      <p:italic r:id="rId51"/>
      <p:boldItalic r:id="rId52"/>
    </p:embeddedFont>
    <p:embeddedFont>
      <p:font typeface="Montserrat"/>
      <p:regular r:id="rId53"/>
      <p:bold r:id="rId54"/>
      <p:italic r:id="rId55"/>
      <p:boldItalic r:id="rId56"/>
    </p:embeddedFont>
    <p:embeddedFont>
      <p:font typeface="Oswald"/>
      <p:regular r:id="rId57"/>
      <p:bold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PlayfairDisplay-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ayfairDisplay-italic.fntdata"/><Relationship Id="rId50" Type="http://schemas.openxmlformats.org/officeDocument/2006/relationships/font" Target="fonts/PlayfairDisplay-bold.fntdata"/><Relationship Id="rId53" Type="http://schemas.openxmlformats.org/officeDocument/2006/relationships/font" Target="fonts/Montserrat-regular.fntdata"/><Relationship Id="rId52" Type="http://schemas.openxmlformats.org/officeDocument/2006/relationships/font" Target="fonts/PlayfairDisplay-boldItalic.fntdata"/><Relationship Id="rId11" Type="http://schemas.openxmlformats.org/officeDocument/2006/relationships/slide" Target="slides/slide6.xml"/><Relationship Id="rId55" Type="http://schemas.openxmlformats.org/officeDocument/2006/relationships/font" Target="fonts/Montserrat-italic.fntdata"/><Relationship Id="rId10" Type="http://schemas.openxmlformats.org/officeDocument/2006/relationships/slide" Target="slides/slide5.xml"/><Relationship Id="rId54" Type="http://schemas.openxmlformats.org/officeDocument/2006/relationships/font" Target="fonts/Montserrat-bold.fntdata"/><Relationship Id="rId13" Type="http://schemas.openxmlformats.org/officeDocument/2006/relationships/slide" Target="slides/slide8.xml"/><Relationship Id="rId57" Type="http://schemas.openxmlformats.org/officeDocument/2006/relationships/font" Target="fonts/Oswald-regular.fntdata"/><Relationship Id="rId12" Type="http://schemas.openxmlformats.org/officeDocument/2006/relationships/slide" Target="slides/slide7.xml"/><Relationship Id="rId56" Type="http://schemas.openxmlformats.org/officeDocument/2006/relationships/font" Target="fonts/Montserrat-boldItalic.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Oswald-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ad72beef7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ad72beef7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b1bd87359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b1bd8735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b1386b38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b1386b38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b1386b385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b1386b385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b1386b385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b1386b385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b1386b385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b1386b385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b1386b385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b1386b385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b1386b3857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b1386b3857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b1386b385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b1386b385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b1386b3857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b1386b3857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b1386b385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b1386b385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b1386b3857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b1386b3857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b1386b385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b1386b385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b1386b3857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b1386b3857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b1386b385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b1386b385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b1386b3857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b1386b3857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b1386b3857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b1386b3857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b1386b385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b1386b385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b1386b3857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b1386b3857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b1386b385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b1386b385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b1386b3857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b1386b3857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b1386b3857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b1386b3857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b1386b3857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b1386b3857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b1386b3857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b1386b3857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b1386b3857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2b1386b3857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b1386b3857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b1386b3857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b1386b3857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b1386b3857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b1386b385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b1386b385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b1386b3857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b1386b3857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b1386b3857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2b1386b3857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b1386b385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b1386b385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b1386b3857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b1386b3857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b1386b3857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b1386b3857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b1386b385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b1386b385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b1386b3857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b1386b3857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b1386b3857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b1386b3857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b1386b3857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b1386b3857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ae96eb73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ae96eb73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20.png"/><Relationship Id="rId6"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4.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hyperlink" Target="https://learn.microsoft.com/en-us/dotnet/csharp/fundamentals/tutorials/oop" TargetMode="External"/><Relationship Id="rId4" Type="http://schemas.openxmlformats.org/officeDocument/2006/relationships/hyperlink" Target="https://www.geeksforgeeks.org/introduction-of-object-oriented-programming/" TargetMode="External"/><Relationship Id="rId9" Type="http://schemas.openxmlformats.org/officeDocument/2006/relationships/hyperlink" Target="https://www.educative.io/blog/object-oriented-programming" TargetMode="External"/><Relationship Id="rId5" Type="http://schemas.openxmlformats.org/officeDocument/2006/relationships/hyperlink" Target="https://stackify.com/oop-concept-abstraction/" TargetMode="External"/><Relationship Id="rId6" Type="http://schemas.openxmlformats.org/officeDocument/2006/relationships/hyperlink" Target="https://www.panonit.com/blog/overview-message-passing-object-oriented-programming" TargetMode="External"/><Relationship Id="rId7" Type="http://schemas.openxmlformats.org/officeDocument/2006/relationships/hyperlink" Target="https://shahedbd.medium.com/composition-c-example-d679244b2eac" TargetMode="External"/><Relationship Id="rId8" Type="http://schemas.openxmlformats.org/officeDocument/2006/relationships/hyperlink" Target="https://www.w3schools.com/cs/cs_access_modifiers.php"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44250" y="1403850"/>
            <a:ext cx="8455500" cy="2146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Complete C# Masterclass</a:t>
            </a:r>
            <a:endParaRPr/>
          </a:p>
        </p:txBody>
      </p:sp>
      <p:sp>
        <p:nvSpPr>
          <p:cNvPr id="59" name="Google Shape;59;p13"/>
          <p:cNvSpPr txBox="1"/>
          <p:nvPr>
            <p:ph idx="1" type="subTitle"/>
          </p:nvPr>
        </p:nvSpPr>
        <p:spPr>
          <a:xfrm>
            <a:off x="5083950" y="3924925"/>
            <a:ext cx="3725400" cy="810900"/>
          </a:xfrm>
          <a:prstGeom prst="rect">
            <a:avLst/>
          </a:prstGeom>
        </p:spPr>
        <p:txBody>
          <a:bodyPr anchorCtr="0" anchor="ctr" bIns="91425" lIns="91425" spcFirstLastPara="1" rIns="91425" wrap="square" tIns="91425">
            <a:normAutofit lnSpcReduction="20000"/>
          </a:bodyPr>
          <a:lstStyle/>
          <a:p>
            <a:pPr indent="0" lvl="0" marL="0" rtl="0" algn="l">
              <a:spcBef>
                <a:spcPts val="0"/>
              </a:spcBef>
              <a:spcAft>
                <a:spcPts val="0"/>
              </a:spcAft>
              <a:buNone/>
            </a:pPr>
            <a:r>
              <a:rPr lang="en"/>
              <a:t>Go from Zero to</a:t>
            </a:r>
            <a:r>
              <a:rPr b="1" lang="en"/>
              <a:t> </a:t>
            </a:r>
            <a:r>
              <a:rPr lang="en"/>
              <a:t>Coding Hero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ctrTitle"/>
          </p:nvPr>
        </p:nvSpPr>
        <p:spPr>
          <a:xfrm>
            <a:off x="311700" y="456575"/>
            <a:ext cx="8520600" cy="82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800"/>
              <a:t>Introduction</a:t>
            </a:r>
            <a:endParaRPr sz="4800"/>
          </a:p>
        </p:txBody>
      </p:sp>
      <p:sp>
        <p:nvSpPr>
          <p:cNvPr id="65" name="Google Shape;65;p14"/>
          <p:cNvSpPr txBox="1"/>
          <p:nvPr>
            <p:ph idx="1" type="subTitle"/>
          </p:nvPr>
        </p:nvSpPr>
        <p:spPr>
          <a:xfrm>
            <a:off x="311700" y="1277675"/>
            <a:ext cx="8520600" cy="3609000"/>
          </a:xfrm>
          <a:prstGeom prst="rect">
            <a:avLst/>
          </a:prstGeom>
        </p:spPr>
        <p:txBody>
          <a:bodyPr anchorCtr="0" anchor="ctr" bIns="91425" lIns="91425" spcFirstLastPara="1" rIns="91425" wrap="square" tIns="91425">
            <a:normAutofit lnSpcReduction="10000"/>
          </a:bodyPr>
          <a:lstStyle/>
          <a:p>
            <a:pPr indent="-342900" lvl="0" marL="457200" rtl="0" algn="l">
              <a:spcBef>
                <a:spcPts val="0"/>
              </a:spcBef>
              <a:spcAft>
                <a:spcPts val="0"/>
              </a:spcAft>
              <a:buSzPts val="1800"/>
              <a:buChar char="●"/>
            </a:pPr>
            <a:r>
              <a:rPr lang="en" sz="1800"/>
              <a:t>What is object-oriented programming?</a:t>
            </a:r>
            <a:endParaRPr sz="1800"/>
          </a:p>
          <a:p>
            <a:pPr indent="-342900" lvl="0" marL="457200" rtl="0" algn="l">
              <a:spcBef>
                <a:spcPts val="0"/>
              </a:spcBef>
              <a:spcAft>
                <a:spcPts val="0"/>
              </a:spcAft>
              <a:buSzPts val="1800"/>
              <a:buChar char="●"/>
            </a:pPr>
            <a:r>
              <a:rPr lang="en" sz="1800"/>
              <a:t>Why do we need object-oriented programming ?</a:t>
            </a:r>
            <a:endParaRPr sz="1800"/>
          </a:p>
          <a:p>
            <a:pPr indent="-342900" lvl="0" marL="457200" rtl="0" algn="l">
              <a:spcBef>
                <a:spcPts val="0"/>
              </a:spcBef>
              <a:spcAft>
                <a:spcPts val="0"/>
              </a:spcAft>
              <a:buSzPts val="1800"/>
              <a:buChar char="●"/>
            </a:pPr>
            <a:r>
              <a:rPr lang="en" sz="1800"/>
              <a:t>What are the benefits of OOP?</a:t>
            </a:r>
            <a:endParaRPr sz="1800"/>
          </a:p>
          <a:p>
            <a:pPr indent="-342900" lvl="0" marL="457200" rtl="0" algn="l">
              <a:spcBef>
                <a:spcPts val="0"/>
              </a:spcBef>
              <a:spcAft>
                <a:spcPts val="0"/>
              </a:spcAft>
              <a:buSzPts val="1800"/>
              <a:buChar char="●"/>
            </a:pPr>
            <a:r>
              <a:rPr lang="en" sz="1800"/>
              <a:t>Criticism of OOP</a:t>
            </a:r>
            <a:endParaRPr sz="1800"/>
          </a:p>
          <a:p>
            <a:pPr indent="-342900" lvl="0" marL="457200" rtl="0" algn="l">
              <a:spcBef>
                <a:spcPts val="0"/>
              </a:spcBef>
              <a:spcAft>
                <a:spcPts val="0"/>
              </a:spcAft>
              <a:buSzPts val="1800"/>
              <a:buChar char="●"/>
            </a:pPr>
            <a:r>
              <a:rPr lang="en" sz="1800"/>
              <a:t>OOP Concepts - Class, Object, Message Passing,Composition, and delegation</a:t>
            </a:r>
            <a:endParaRPr sz="1800"/>
          </a:p>
          <a:p>
            <a:pPr indent="-342900" lvl="0" marL="457200" rtl="0" algn="l">
              <a:spcBef>
                <a:spcPts val="0"/>
              </a:spcBef>
              <a:spcAft>
                <a:spcPts val="0"/>
              </a:spcAft>
              <a:buSzPts val="1800"/>
              <a:buChar char="●"/>
            </a:pPr>
            <a:r>
              <a:rPr lang="en" sz="1800"/>
              <a:t>Real-world modeling and relationships</a:t>
            </a:r>
            <a:endParaRPr sz="1800"/>
          </a:p>
          <a:p>
            <a:pPr indent="-342900" lvl="0" marL="457200" rtl="0" algn="l">
              <a:spcBef>
                <a:spcPts val="0"/>
              </a:spcBef>
              <a:spcAft>
                <a:spcPts val="0"/>
              </a:spcAft>
              <a:buSzPts val="1800"/>
              <a:buChar char="●"/>
            </a:pPr>
            <a:r>
              <a:rPr lang="en" sz="1800"/>
              <a:t>What is the structure of object-oriented programming?</a:t>
            </a:r>
            <a:endParaRPr sz="1800"/>
          </a:p>
          <a:p>
            <a:pPr indent="-342900" lvl="0" marL="457200" rtl="0" algn="l">
              <a:spcBef>
                <a:spcPts val="0"/>
              </a:spcBef>
              <a:spcAft>
                <a:spcPts val="0"/>
              </a:spcAft>
              <a:buSzPts val="1800"/>
              <a:buChar char="●"/>
            </a:pPr>
            <a:r>
              <a:rPr lang="en" sz="1800"/>
              <a:t>What are examples of object-oriented programming languages?</a:t>
            </a:r>
            <a:endParaRPr sz="1800"/>
          </a:p>
          <a:p>
            <a:pPr indent="-342900" lvl="0" marL="457200" rtl="0" algn="l">
              <a:spcBef>
                <a:spcPts val="0"/>
              </a:spcBef>
              <a:spcAft>
                <a:spcPts val="0"/>
              </a:spcAft>
              <a:buSzPts val="1800"/>
              <a:buChar char="●"/>
            </a:pPr>
            <a:r>
              <a:rPr lang="en" sz="1800"/>
              <a:t>Four Basics of OOP - Abstraction, Inheritance, Polymorphism, and Encapsulation</a:t>
            </a:r>
            <a:endParaRPr sz="1800"/>
          </a:p>
          <a:p>
            <a:pPr indent="-342900" lvl="0" marL="457200" rtl="0" algn="l">
              <a:spcBef>
                <a:spcPts val="0"/>
              </a:spcBef>
              <a:spcAft>
                <a:spcPts val="0"/>
              </a:spcAft>
              <a:buSzPts val="1800"/>
              <a:buChar char="●"/>
            </a:pPr>
            <a:r>
              <a:rPr lang="en" sz="1800"/>
              <a:t>Extras</a:t>
            </a:r>
            <a:endParaRPr sz="1800"/>
          </a:p>
          <a:p>
            <a:pPr indent="0" lvl="0" marL="457200" rtl="0" algn="l">
              <a:spcBef>
                <a:spcPts val="0"/>
              </a:spcBef>
              <a:spcAft>
                <a:spcPts val="0"/>
              </a:spcAft>
              <a:buNone/>
            </a:pPr>
            <a:r>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ctrTitle"/>
          </p:nvPr>
        </p:nvSpPr>
        <p:spPr>
          <a:xfrm>
            <a:off x="311700" y="456575"/>
            <a:ext cx="8520600" cy="821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Source Code</a:t>
            </a:r>
            <a:endParaRPr/>
          </a:p>
        </p:txBody>
      </p:sp>
      <p:sp>
        <p:nvSpPr>
          <p:cNvPr id="71" name="Google Shape;71;p15"/>
          <p:cNvSpPr txBox="1"/>
          <p:nvPr>
            <p:ph idx="1" type="subTitle"/>
          </p:nvPr>
        </p:nvSpPr>
        <p:spPr>
          <a:xfrm>
            <a:off x="311700" y="1277675"/>
            <a:ext cx="8520600" cy="3741000"/>
          </a:xfrm>
          <a:prstGeom prst="rect">
            <a:avLst/>
          </a:prstGeom>
        </p:spPr>
        <p:txBody>
          <a:bodyPr anchorCtr="0" anchor="ctr" bIns="91425" lIns="91425" spcFirstLastPara="1" rIns="91425" wrap="square" tIns="91425">
            <a:normAutofit fontScale="25000" lnSpcReduction="20000"/>
          </a:bodyPr>
          <a:lstStyle/>
          <a:p>
            <a:pPr indent="0" lvl="0" marL="457200" rtl="0" algn="l">
              <a:spcBef>
                <a:spcPts val="0"/>
              </a:spcBef>
              <a:spcAft>
                <a:spcPts val="0"/>
              </a:spcAft>
              <a:buNone/>
            </a:pPr>
            <a:r>
              <a:t/>
            </a:r>
            <a:endParaRPr sz="2245"/>
          </a:p>
          <a:p>
            <a:pPr indent="0" lvl="0" marL="457200" rtl="0" algn="l">
              <a:lnSpc>
                <a:spcPct val="115000"/>
              </a:lnSpc>
              <a:spcBef>
                <a:spcPts val="1200"/>
              </a:spcBef>
              <a:spcAft>
                <a:spcPts val="0"/>
              </a:spcAft>
              <a:buNone/>
            </a:pPr>
            <a:r>
              <a:t/>
            </a:r>
            <a:endParaRPr sz="6776"/>
          </a:p>
          <a:p>
            <a:pPr indent="0" lvl="0" marL="457200" rtl="0" algn="l">
              <a:lnSpc>
                <a:spcPct val="115000"/>
              </a:lnSpc>
              <a:spcBef>
                <a:spcPts val="1200"/>
              </a:spcBef>
              <a:spcAft>
                <a:spcPts val="0"/>
              </a:spcAft>
              <a:buNone/>
            </a:pPr>
            <a:r>
              <a:t/>
            </a:r>
            <a:endParaRPr sz="6776"/>
          </a:p>
          <a:p>
            <a:pPr indent="0" lvl="0" marL="457200" rtl="0" algn="l">
              <a:lnSpc>
                <a:spcPct val="115000"/>
              </a:lnSpc>
              <a:spcBef>
                <a:spcPts val="1200"/>
              </a:spcBef>
              <a:spcAft>
                <a:spcPts val="0"/>
              </a:spcAft>
              <a:buNone/>
            </a:pPr>
            <a:r>
              <a:t/>
            </a:r>
            <a:endParaRPr sz="6776"/>
          </a:p>
          <a:p>
            <a:pPr indent="-336176" lvl="0" marL="457200" rtl="0" algn="l">
              <a:lnSpc>
                <a:spcPct val="115000"/>
              </a:lnSpc>
              <a:spcBef>
                <a:spcPts val="1200"/>
              </a:spcBef>
              <a:spcAft>
                <a:spcPts val="0"/>
              </a:spcAft>
              <a:buSzPct val="100000"/>
              <a:buChar char="●"/>
            </a:pPr>
            <a:r>
              <a:rPr lang="en" sz="6776"/>
              <a:t>Navigate to the solution on your machine</a:t>
            </a:r>
            <a:endParaRPr sz="6776"/>
          </a:p>
          <a:p>
            <a:pPr indent="-336176" lvl="0" marL="457200" rtl="0" algn="l">
              <a:lnSpc>
                <a:spcPct val="115000"/>
              </a:lnSpc>
              <a:spcBef>
                <a:spcPts val="0"/>
              </a:spcBef>
              <a:spcAft>
                <a:spcPts val="0"/>
              </a:spcAft>
              <a:buSzPct val="100000"/>
              <a:buChar char="●"/>
            </a:pPr>
            <a:r>
              <a:rPr lang="en" sz="6776"/>
              <a:t>Moving forward we will use two branches, one for questions &amp; one for answers</a:t>
            </a:r>
            <a:endParaRPr sz="6776"/>
          </a:p>
          <a:p>
            <a:pPr indent="-336176" lvl="0" marL="457200" rtl="0" algn="l">
              <a:lnSpc>
                <a:spcPct val="115000"/>
              </a:lnSpc>
              <a:spcBef>
                <a:spcPts val="0"/>
              </a:spcBef>
              <a:spcAft>
                <a:spcPts val="0"/>
              </a:spcAft>
              <a:buSzPct val="100000"/>
              <a:buChar char="●"/>
            </a:pPr>
            <a:r>
              <a:rPr lang="en" sz="6776"/>
              <a:t>use command `git fetch` and then `git checkout ZeroToHero.OOP.Questions` for questions and </a:t>
            </a:r>
            <a:r>
              <a:rPr lang="en" sz="6776"/>
              <a:t>`git checkout ZeroToHero.OOP.Answers` for answers to get the relevant solution you looking for</a:t>
            </a:r>
            <a:endParaRPr sz="6776"/>
          </a:p>
          <a:p>
            <a:pPr indent="-336176" lvl="0" marL="457200" rtl="0" algn="l">
              <a:lnSpc>
                <a:spcPct val="115000"/>
              </a:lnSpc>
              <a:spcBef>
                <a:spcPts val="0"/>
              </a:spcBef>
              <a:spcAft>
                <a:spcPts val="0"/>
              </a:spcAft>
              <a:buSzPct val="100000"/>
              <a:buChar char="●"/>
            </a:pPr>
            <a:r>
              <a:rPr lang="en" sz="6776"/>
              <a:t>Open up the solution once update, by clicking on the ZeroToHeroMasterClass.sln</a:t>
            </a:r>
            <a:endParaRPr sz="6776"/>
          </a:p>
          <a:p>
            <a:pPr indent="-336176" lvl="0" marL="457200" rtl="0" algn="l">
              <a:lnSpc>
                <a:spcPct val="115000"/>
              </a:lnSpc>
              <a:spcBef>
                <a:spcPts val="0"/>
              </a:spcBef>
              <a:spcAft>
                <a:spcPts val="0"/>
              </a:spcAft>
              <a:buSzPct val="100000"/>
              <a:buChar char="●"/>
            </a:pPr>
            <a:r>
              <a:rPr lang="en" sz="6776"/>
              <a:t>You will find this module source code under the module 2 folder </a:t>
            </a:r>
            <a:endParaRPr sz="6776"/>
          </a:p>
          <a:p>
            <a:pPr indent="-336176" lvl="1" marL="914400" rtl="0" algn="l">
              <a:lnSpc>
                <a:spcPct val="115000"/>
              </a:lnSpc>
              <a:spcBef>
                <a:spcPts val="0"/>
              </a:spcBef>
              <a:spcAft>
                <a:spcPts val="0"/>
              </a:spcAft>
              <a:buSzPct val="100000"/>
              <a:buChar char="○"/>
            </a:pPr>
            <a:r>
              <a:rPr lang="en" sz="6776"/>
              <a:t>ZeroToHero.DecisionsAndIteration</a:t>
            </a:r>
            <a:endParaRPr sz="6776"/>
          </a:p>
          <a:p>
            <a:pPr indent="-336176" lvl="1" marL="914400" rtl="0" algn="l">
              <a:lnSpc>
                <a:spcPct val="115000"/>
              </a:lnSpc>
              <a:spcBef>
                <a:spcPts val="0"/>
              </a:spcBef>
              <a:spcAft>
                <a:spcPts val="0"/>
              </a:spcAft>
              <a:buSzPct val="100000"/>
              <a:buChar char="○"/>
            </a:pPr>
            <a:r>
              <a:rPr lang="en" sz="6776"/>
              <a:t>Right click on the project with above name, and set as starting project</a:t>
            </a:r>
            <a:endParaRPr sz="6776"/>
          </a:p>
          <a:p>
            <a:pPr indent="-336176" lvl="1" marL="914400" rtl="0" algn="l">
              <a:lnSpc>
                <a:spcPct val="115000"/>
              </a:lnSpc>
              <a:spcBef>
                <a:spcPts val="0"/>
              </a:spcBef>
              <a:spcAft>
                <a:spcPts val="0"/>
              </a:spcAft>
              <a:buSzPct val="100000"/>
              <a:buChar char="○"/>
            </a:pPr>
            <a:r>
              <a:rPr lang="en" sz="6776"/>
              <a:t>Click Green button to start</a:t>
            </a:r>
            <a:endParaRPr sz="6776"/>
          </a:p>
          <a:p>
            <a:pPr indent="0" lvl="0" marL="457200" rtl="0" algn="l">
              <a:lnSpc>
                <a:spcPct val="115000"/>
              </a:lnSpc>
              <a:spcBef>
                <a:spcPts val="1200"/>
              </a:spcBef>
              <a:spcAft>
                <a:spcPts val="0"/>
              </a:spcAft>
              <a:buNone/>
            </a:pPr>
            <a:r>
              <a:t/>
            </a:r>
            <a:endParaRPr sz="1800"/>
          </a:p>
          <a:p>
            <a:pPr indent="0" lvl="0" marL="457200" rtl="0" algn="l">
              <a:lnSpc>
                <a:spcPct val="115000"/>
              </a:lnSpc>
              <a:spcBef>
                <a:spcPts val="1200"/>
              </a:spcBef>
              <a:spcAft>
                <a:spcPts val="0"/>
              </a:spcAft>
              <a:buNone/>
            </a:pPr>
            <a:r>
              <a:t/>
            </a:r>
            <a:endParaRPr sz="1800"/>
          </a:p>
          <a:p>
            <a:pPr indent="0" lvl="0" marL="457200" rtl="0" algn="l">
              <a:lnSpc>
                <a:spcPct val="115000"/>
              </a:lnSpc>
              <a:spcBef>
                <a:spcPts val="1200"/>
              </a:spcBef>
              <a:spcAft>
                <a:spcPts val="0"/>
              </a:spcAft>
              <a:buNone/>
            </a:pPr>
            <a:r>
              <a:t/>
            </a:r>
            <a:endParaRPr sz="1800"/>
          </a:p>
          <a:p>
            <a:pPr indent="-246062" lvl="0" marL="457200" rtl="0" algn="l">
              <a:lnSpc>
                <a:spcPct val="115000"/>
              </a:lnSpc>
              <a:spcBef>
                <a:spcPts val="1200"/>
              </a:spcBef>
              <a:spcAft>
                <a:spcPts val="0"/>
              </a:spcAft>
              <a:buClr>
                <a:schemeClr val="dk2"/>
              </a:buClr>
              <a:buSzPct val="61111"/>
              <a:buFont typeface="Arial"/>
              <a:buChar char="●"/>
            </a:pPr>
            <a:r>
              <a:t/>
            </a:r>
            <a:endParaRPr sz="1800"/>
          </a:p>
          <a:p>
            <a:pPr indent="0" lvl="0" marL="457200" rtl="0" algn="l">
              <a:spcBef>
                <a:spcPts val="1200"/>
              </a:spcBef>
              <a:spcAft>
                <a:spcPts val="0"/>
              </a:spcAft>
              <a:buNone/>
            </a:pPr>
            <a:r>
              <a:t/>
            </a:r>
            <a:endParaRPr sz="1800"/>
          </a:p>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What is object-oriented programming?</a:t>
            </a:r>
            <a:endParaRPr sz="2900"/>
          </a:p>
        </p:txBody>
      </p:sp>
      <p:sp>
        <p:nvSpPr>
          <p:cNvPr id="77" name="Google Shape;77;p16"/>
          <p:cNvSpPr txBox="1"/>
          <p:nvPr>
            <p:ph idx="1" type="subTitle"/>
          </p:nvPr>
        </p:nvSpPr>
        <p:spPr>
          <a:xfrm>
            <a:off x="223625" y="1277675"/>
            <a:ext cx="8735700" cy="36423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sz="1800"/>
              <a:t>Object-oriented programming (OOP) is a computer programming model that organizes software design around data, or objects, rather than functions and logic. </a:t>
            </a:r>
            <a:endParaRPr sz="1800"/>
          </a:p>
          <a:p>
            <a:pPr indent="-342900" lvl="0" marL="457200" rtl="0" algn="l">
              <a:spcBef>
                <a:spcPts val="0"/>
              </a:spcBef>
              <a:spcAft>
                <a:spcPts val="0"/>
              </a:spcAft>
              <a:buSzPts val="1800"/>
              <a:buChar char="●"/>
            </a:pPr>
            <a:r>
              <a:rPr lang="en" sz="1800"/>
              <a:t>Object-oriented programming aims to implement real-world entities like inheritance, hiding, polymorphism, etc in programming. </a:t>
            </a:r>
            <a:endParaRPr sz="1800"/>
          </a:p>
          <a:p>
            <a:pPr indent="-342900" lvl="0" marL="457200" rtl="0" algn="l">
              <a:spcBef>
                <a:spcPts val="0"/>
              </a:spcBef>
              <a:spcAft>
                <a:spcPts val="0"/>
              </a:spcAft>
              <a:buSzPts val="1800"/>
              <a:buChar char="●"/>
            </a:pPr>
            <a:r>
              <a:rPr lang="en" sz="1800"/>
              <a:t>The main aim of OOP is to bind together the data and the functions that operate on them so that no other part of the code can access this data except that function.</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900">
                <a:latin typeface="Montserrat"/>
                <a:ea typeface="Montserrat"/>
                <a:cs typeface="Montserrat"/>
                <a:sym typeface="Montserrat"/>
              </a:rPr>
              <a:t>What is object-oriented programming?</a:t>
            </a:r>
            <a:endParaRPr sz="2900"/>
          </a:p>
        </p:txBody>
      </p:sp>
      <p:sp>
        <p:nvSpPr>
          <p:cNvPr id="83" name="Google Shape;83;p17"/>
          <p:cNvSpPr txBox="1"/>
          <p:nvPr>
            <p:ph idx="1" type="subTitle"/>
          </p:nvPr>
        </p:nvSpPr>
        <p:spPr>
          <a:xfrm>
            <a:off x="223625" y="1277675"/>
            <a:ext cx="8735700" cy="3642300"/>
          </a:xfrm>
          <a:prstGeom prst="rect">
            <a:avLst/>
          </a:prstGeom>
        </p:spPr>
        <p:txBody>
          <a:bodyPr anchorCtr="0" anchor="ctr" bIns="91425" lIns="91425" spcFirstLastPara="1" rIns="91425" wrap="square" tIns="91425">
            <a:normAutofit/>
          </a:bodyPr>
          <a:lstStyle/>
          <a:p>
            <a:pPr indent="-342900" lvl="0" marL="4572000" rtl="0" algn="l">
              <a:spcBef>
                <a:spcPts val="0"/>
              </a:spcBef>
              <a:spcAft>
                <a:spcPts val="0"/>
              </a:spcAft>
              <a:buSzPts val="1800"/>
              <a:buChar char="●"/>
            </a:pPr>
            <a:r>
              <a:rPr lang="en" sz="1800"/>
              <a:t>OOP is often a grouping term for these main concepts</a:t>
            </a:r>
            <a:endParaRPr sz="1800"/>
          </a:p>
          <a:p>
            <a:pPr indent="-342900" lvl="0" marL="4572000" rtl="0" algn="l">
              <a:spcBef>
                <a:spcPts val="0"/>
              </a:spcBef>
              <a:spcAft>
                <a:spcPts val="0"/>
              </a:spcAft>
              <a:buSzPts val="1800"/>
              <a:buChar char="●"/>
            </a:pPr>
            <a:r>
              <a:rPr lang="en" sz="1800"/>
              <a:t>It is a paradigm based on the concepts of objects.</a:t>
            </a:r>
            <a:endParaRPr sz="1800"/>
          </a:p>
          <a:p>
            <a:pPr indent="-342900" lvl="0" marL="4572000" rtl="0" algn="l">
              <a:spcBef>
                <a:spcPts val="0"/>
              </a:spcBef>
              <a:spcAft>
                <a:spcPts val="0"/>
              </a:spcAft>
              <a:buSzPts val="1800"/>
              <a:buChar char="●"/>
            </a:pPr>
            <a:r>
              <a:rPr lang="en" sz="1800"/>
              <a:t>Which can </a:t>
            </a:r>
            <a:r>
              <a:rPr lang="en" sz="1800"/>
              <a:t>contain code</a:t>
            </a:r>
            <a:r>
              <a:rPr lang="en" sz="1800"/>
              <a:t> and data</a:t>
            </a:r>
            <a:endParaRPr sz="1800"/>
          </a:p>
        </p:txBody>
      </p:sp>
      <p:pic>
        <p:nvPicPr>
          <p:cNvPr id="84" name="Google Shape;84;p17"/>
          <p:cNvPicPr preferRelativeResize="0"/>
          <p:nvPr/>
        </p:nvPicPr>
        <p:blipFill>
          <a:blip r:embed="rId3">
            <a:alphaModFix/>
          </a:blip>
          <a:stretch>
            <a:fillRect/>
          </a:stretch>
        </p:blipFill>
        <p:spPr>
          <a:xfrm>
            <a:off x="775200" y="1551500"/>
            <a:ext cx="2809200" cy="28582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Why do we need object-oriented programming ?</a:t>
            </a:r>
            <a:endParaRPr sz="2900"/>
          </a:p>
        </p:txBody>
      </p:sp>
      <p:sp>
        <p:nvSpPr>
          <p:cNvPr id="90" name="Google Shape;90;p18"/>
          <p:cNvSpPr txBox="1"/>
          <p:nvPr>
            <p:ph idx="1" type="subTitle"/>
          </p:nvPr>
        </p:nvSpPr>
        <p:spPr>
          <a:xfrm>
            <a:off x="223625" y="1277675"/>
            <a:ext cx="8735700" cy="36423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sz="1800"/>
              <a:t>To make the development and maintenance of projects more effortless. </a:t>
            </a:r>
            <a:endParaRPr sz="1800"/>
          </a:p>
          <a:p>
            <a:pPr indent="-342900" lvl="0" marL="457200" rtl="0" algn="l">
              <a:spcBef>
                <a:spcPts val="0"/>
              </a:spcBef>
              <a:spcAft>
                <a:spcPts val="0"/>
              </a:spcAft>
              <a:buSzPts val="1800"/>
              <a:buChar char="●"/>
            </a:pPr>
            <a:r>
              <a:rPr lang="en" sz="1800"/>
              <a:t>To provide the feature of data hiding that is good for security concerns.  </a:t>
            </a:r>
            <a:endParaRPr sz="1800"/>
          </a:p>
          <a:p>
            <a:pPr indent="-342900" lvl="0" marL="457200" rtl="0" algn="l">
              <a:spcBef>
                <a:spcPts val="0"/>
              </a:spcBef>
              <a:spcAft>
                <a:spcPts val="0"/>
              </a:spcAft>
              <a:buSzPts val="1800"/>
              <a:buChar char="●"/>
            </a:pPr>
            <a:r>
              <a:rPr lang="en" sz="1800"/>
              <a:t>We can solve real-world problems if we are using object-oriented programming. </a:t>
            </a:r>
            <a:endParaRPr sz="1800"/>
          </a:p>
          <a:p>
            <a:pPr indent="-342900" lvl="0" marL="457200" rtl="0" algn="l">
              <a:spcBef>
                <a:spcPts val="0"/>
              </a:spcBef>
              <a:spcAft>
                <a:spcPts val="0"/>
              </a:spcAft>
              <a:buSzPts val="1800"/>
              <a:buChar char="●"/>
            </a:pPr>
            <a:r>
              <a:rPr lang="en" sz="1800"/>
              <a:t>It ensures code reusability. </a:t>
            </a:r>
            <a:endParaRPr sz="1800"/>
          </a:p>
          <a:p>
            <a:pPr indent="-342900" lvl="0" marL="457200" rtl="0" algn="l">
              <a:spcBef>
                <a:spcPts val="0"/>
              </a:spcBef>
              <a:spcAft>
                <a:spcPts val="0"/>
              </a:spcAft>
              <a:buSzPts val="1800"/>
              <a:buChar char="●"/>
            </a:pPr>
            <a:r>
              <a:rPr lang="en" sz="1800"/>
              <a:t>It lets us write generic code: which will work with a range of data, so we don’t have to write basic stuff over and over again.</a:t>
            </a:r>
            <a:endParaRPr sz="1800"/>
          </a:p>
          <a:p>
            <a:pPr indent="0" lvl="0" marL="457200" rtl="0" algn="l">
              <a:spcBef>
                <a:spcPts val="0"/>
              </a:spcBef>
              <a:spcAft>
                <a:spcPts val="0"/>
              </a:spcAft>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ctrTitle"/>
          </p:nvPr>
        </p:nvSpPr>
        <p:spPr>
          <a:xfrm>
            <a:off x="223625" y="223625"/>
            <a:ext cx="8735700" cy="8736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What are the benefits of OOP?</a:t>
            </a:r>
            <a:endParaRPr sz="2900"/>
          </a:p>
        </p:txBody>
      </p:sp>
      <p:sp>
        <p:nvSpPr>
          <p:cNvPr id="96" name="Google Shape;96;p19"/>
          <p:cNvSpPr txBox="1"/>
          <p:nvPr>
            <p:ph idx="1" type="subTitle"/>
          </p:nvPr>
        </p:nvSpPr>
        <p:spPr>
          <a:xfrm>
            <a:off x="223625" y="1097225"/>
            <a:ext cx="8735700" cy="3906600"/>
          </a:xfrm>
          <a:prstGeom prst="rect">
            <a:avLst/>
          </a:prstGeom>
        </p:spPr>
        <p:txBody>
          <a:bodyPr anchorCtr="0" anchor="ctr" bIns="91425" lIns="91425" spcFirstLastPara="1" rIns="91425" wrap="square" tIns="91425">
            <a:normAutofit fontScale="85000" lnSpcReduction="20000"/>
          </a:bodyPr>
          <a:lstStyle/>
          <a:p>
            <a:pPr indent="0" lvl="0" marL="457200" rtl="0" algn="l">
              <a:spcBef>
                <a:spcPts val="0"/>
              </a:spcBef>
              <a:spcAft>
                <a:spcPts val="0"/>
              </a:spcAft>
              <a:buNone/>
            </a:pPr>
            <a:r>
              <a:t/>
            </a:r>
            <a:endParaRPr sz="1800"/>
          </a:p>
          <a:p>
            <a:pPr indent="-319919" lvl="0" marL="457200" rtl="0" algn="l">
              <a:spcBef>
                <a:spcPts val="0"/>
              </a:spcBef>
              <a:spcAft>
                <a:spcPts val="0"/>
              </a:spcAft>
              <a:buSzPct val="100000"/>
              <a:buChar char="●"/>
            </a:pPr>
            <a:r>
              <a:rPr lang="en" sz="1691" u="sng"/>
              <a:t>Modularity</a:t>
            </a:r>
            <a:r>
              <a:rPr lang="en" sz="1691"/>
              <a:t>. Encapsulation enables objects to be self-contained, making troubleshooting and collaborative development easier.</a:t>
            </a:r>
            <a:br>
              <a:rPr lang="en" sz="1691"/>
            </a:br>
            <a:endParaRPr sz="1691"/>
          </a:p>
          <a:p>
            <a:pPr indent="-319919" lvl="0" marL="457200" rtl="0" algn="l">
              <a:spcBef>
                <a:spcPts val="0"/>
              </a:spcBef>
              <a:spcAft>
                <a:spcPts val="0"/>
              </a:spcAft>
              <a:buSzPct val="100000"/>
              <a:buChar char="●"/>
            </a:pPr>
            <a:r>
              <a:rPr lang="en" sz="1691" u="sng"/>
              <a:t>Reusability</a:t>
            </a:r>
            <a:r>
              <a:rPr lang="en" sz="1691"/>
              <a:t>. Code can be reused through inheritance, meaning a team does not have to write the same code multiple times.</a:t>
            </a:r>
            <a:br>
              <a:rPr lang="en" sz="1691"/>
            </a:br>
            <a:endParaRPr sz="1691"/>
          </a:p>
          <a:p>
            <a:pPr indent="-319919" lvl="0" marL="457200" rtl="0" algn="l">
              <a:spcBef>
                <a:spcPts val="0"/>
              </a:spcBef>
              <a:spcAft>
                <a:spcPts val="0"/>
              </a:spcAft>
              <a:buSzPct val="100000"/>
              <a:buChar char="●"/>
            </a:pPr>
            <a:r>
              <a:rPr lang="en" sz="1691" u="sng"/>
              <a:t>Productivity</a:t>
            </a:r>
            <a:r>
              <a:rPr lang="en" sz="1691"/>
              <a:t>. Programmers can construct new programs quicker through the use of multiple libraries and reusable code.</a:t>
            </a:r>
            <a:br>
              <a:rPr lang="en" sz="1691"/>
            </a:br>
            <a:endParaRPr sz="1691"/>
          </a:p>
          <a:p>
            <a:pPr indent="-319919" lvl="0" marL="457200" rtl="0" algn="l">
              <a:spcBef>
                <a:spcPts val="0"/>
              </a:spcBef>
              <a:spcAft>
                <a:spcPts val="0"/>
              </a:spcAft>
              <a:buSzPct val="100000"/>
              <a:buChar char="●"/>
            </a:pPr>
            <a:r>
              <a:rPr lang="en" sz="1691" u="sng"/>
              <a:t>Easily upgradable and scalable</a:t>
            </a:r>
            <a:r>
              <a:rPr lang="en" sz="1691"/>
              <a:t>. Programmers can implement system functionalities independently.</a:t>
            </a:r>
            <a:br>
              <a:rPr lang="en" sz="1691"/>
            </a:br>
            <a:endParaRPr sz="1691"/>
          </a:p>
          <a:p>
            <a:pPr indent="-319919" lvl="0" marL="457200" rtl="0" algn="l">
              <a:spcBef>
                <a:spcPts val="0"/>
              </a:spcBef>
              <a:spcAft>
                <a:spcPts val="0"/>
              </a:spcAft>
              <a:buSzPct val="100000"/>
              <a:buChar char="●"/>
            </a:pPr>
            <a:r>
              <a:rPr lang="en" sz="1691" u="sng"/>
              <a:t>Interface descriptions</a:t>
            </a:r>
            <a:r>
              <a:rPr lang="en" sz="1691"/>
              <a:t>. Descriptions of external systems are simple, due to message passing techniques that are used for objects communication.</a:t>
            </a:r>
            <a:br>
              <a:rPr lang="en" sz="1691"/>
            </a:br>
            <a:endParaRPr sz="1691"/>
          </a:p>
          <a:p>
            <a:pPr indent="-319919" lvl="0" marL="457200" rtl="0" algn="l">
              <a:spcBef>
                <a:spcPts val="0"/>
              </a:spcBef>
              <a:spcAft>
                <a:spcPts val="0"/>
              </a:spcAft>
              <a:buSzPct val="100000"/>
              <a:buChar char="●"/>
            </a:pPr>
            <a:r>
              <a:rPr lang="en" sz="1691" u="sng"/>
              <a:t>Security</a:t>
            </a:r>
            <a:r>
              <a:rPr lang="en" sz="1691"/>
              <a:t>. Using encapsulation and abstraction, complex code is hidden, software maintenance is easier and internet protocols are protected.</a:t>
            </a:r>
            <a:br>
              <a:rPr lang="en" sz="1691"/>
            </a:br>
            <a:endParaRPr sz="1691"/>
          </a:p>
          <a:p>
            <a:pPr indent="-319919" lvl="0" marL="457200" rtl="0" algn="l">
              <a:spcBef>
                <a:spcPts val="0"/>
              </a:spcBef>
              <a:spcAft>
                <a:spcPts val="0"/>
              </a:spcAft>
              <a:buSzPct val="100000"/>
              <a:buChar char="●"/>
            </a:pPr>
            <a:r>
              <a:rPr lang="en" sz="1691" u="sng"/>
              <a:t>Flexibility</a:t>
            </a:r>
            <a:r>
              <a:rPr lang="en" sz="1691"/>
              <a:t>. Polymorphism enables a single function to adapt to the class it is placed in. Different objects can also pass through the same interface.</a:t>
            </a:r>
            <a:endParaRPr sz="169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ctrTitle"/>
          </p:nvPr>
        </p:nvSpPr>
        <p:spPr>
          <a:xfrm>
            <a:off x="223625" y="104825"/>
            <a:ext cx="8735700" cy="6009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3000">
                <a:latin typeface="Montserrat"/>
                <a:ea typeface="Montserrat"/>
                <a:cs typeface="Montserrat"/>
                <a:sym typeface="Montserrat"/>
              </a:rPr>
              <a:t>Criticism of OOP</a:t>
            </a:r>
            <a:endParaRPr sz="3000"/>
          </a:p>
        </p:txBody>
      </p:sp>
      <p:sp>
        <p:nvSpPr>
          <p:cNvPr id="102" name="Google Shape;102;p20"/>
          <p:cNvSpPr txBox="1"/>
          <p:nvPr>
            <p:ph idx="1" type="subTitle"/>
          </p:nvPr>
        </p:nvSpPr>
        <p:spPr>
          <a:xfrm>
            <a:off x="223625" y="705725"/>
            <a:ext cx="8735700" cy="436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The object-oriented programming model has been criticized by developers for multiple reasons. The largest concern is that OOP overemphasizes the data component of software development and does not focus enough on computation or algorithms. Additionally, OOP code may be more complicated to write and take longer to compile.</a:t>
            </a:r>
            <a:br>
              <a:rPr lang="en" sz="1800"/>
            </a:br>
            <a:endParaRPr sz="1800"/>
          </a:p>
          <a:p>
            <a:pPr indent="-342900" lvl="0" marL="457200" rtl="0" algn="l">
              <a:spcBef>
                <a:spcPts val="0"/>
              </a:spcBef>
              <a:spcAft>
                <a:spcPts val="0"/>
              </a:spcAft>
              <a:buSzPts val="1800"/>
              <a:buChar char="●"/>
            </a:pPr>
            <a:r>
              <a:rPr lang="en" sz="1800"/>
              <a:t>Most advanced programming languages enable developers to combine models, because they can be used for different programming methods. For example, C# can be used for OOP and functional programming.</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ctrTitle"/>
          </p:nvPr>
        </p:nvSpPr>
        <p:spPr>
          <a:xfrm>
            <a:off x="223625" y="104825"/>
            <a:ext cx="8735700" cy="6009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3000">
                <a:latin typeface="Montserrat"/>
                <a:ea typeface="Montserrat"/>
                <a:cs typeface="Montserrat"/>
                <a:sym typeface="Montserrat"/>
              </a:rPr>
              <a:t>Criticism of OOP</a:t>
            </a:r>
            <a:endParaRPr sz="3000"/>
          </a:p>
        </p:txBody>
      </p:sp>
      <p:sp>
        <p:nvSpPr>
          <p:cNvPr id="108" name="Google Shape;108;p21"/>
          <p:cNvSpPr txBox="1"/>
          <p:nvPr>
            <p:ph idx="1" type="subTitle"/>
          </p:nvPr>
        </p:nvSpPr>
        <p:spPr>
          <a:xfrm>
            <a:off x="223625" y="705725"/>
            <a:ext cx="8735700" cy="4361100"/>
          </a:xfrm>
          <a:prstGeom prst="rect">
            <a:avLst/>
          </a:prstGeom>
        </p:spPr>
        <p:txBody>
          <a:bodyPr anchorCtr="0" anchor="ctr" bIns="91425" lIns="91425" spcFirstLastPara="1" rIns="91425" wrap="square" tIns="91425">
            <a:normAutofit fontScale="77500" lnSpcReduction="10000"/>
          </a:bodyPr>
          <a:lstStyle/>
          <a:p>
            <a:pPr indent="0" lvl="0" marL="0" rtl="0" algn="l">
              <a:spcBef>
                <a:spcPts val="0"/>
              </a:spcBef>
              <a:spcAft>
                <a:spcPts val="0"/>
              </a:spcAft>
              <a:buNone/>
            </a:pPr>
            <a:r>
              <a:t/>
            </a:r>
            <a:endParaRPr sz="1800"/>
          </a:p>
          <a:p>
            <a:pPr indent="0" lvl="0" marL="0" rtl="0" algn="l">
              <a:spcBef>
                <a:spcPts val="0"/>
              </a:spcBef>
              <a:spcAft>
                <a:spcPts val="0"/>
              </a:spcAft>
              <a:buNone/>
            </a:pPr>
            <a:r>
              <a:rPr lang="en" sz="1800"/>
              <a:t>Alternative methods to OOP include:</a:t>
            </a:r>
            <a:br>
              <a:rPr lang="en" sz="1800"/>
            </a:br>
            <a:endParaRPr sz="1800"/>
          </a:p>
          <a:p>
            <a:pPr indent="-317182" lvl="0" marL="457200" rtl="0" algn="l">
              <a:spcBef>
                <a:spcPts val="0"/>
              </a:spcBef>
              <a:spcAft>
                <a:spcPts val="0"/>
              </a:spcAft>
              <a:buSzPct val="100000"/>
              <a:buChar char="●"/>
            </a:pPr>
            <a:r>
              <a:rPr lang="en" sz="1800" u="sng"/>
              <a:t>Functional programming.</a:t>
            </a:r>
            <a:r>
              <a:rPr lang="en" sz="1800"/>
              <a:t> This includes languages such as Erlang and Scala, which are used for telecommunications and fault tolerant systems.</a:t>
            </a:r>
            <a:br>
              <a:rPr lang="en" sz="1800"/>
            </a:br>
            <a:endParaRPr sz="1800"/>
          </a:p>
          <a:p>
            <a:pPr indent="-317182" lvl="0" marL="457200" rtl="0" algn="l">
              <a:spcBef>
                <a:spcPts val="0"/>
              </a:spcBef>
              <a:spcAft>
                <a:spcPts val="0"/>
              </a:spcAft>
              <a:buSzPct val="100000"/>
              <a:buChar char="●"/>
            </a:pPr>
            <a:r>
              <a:rPr lang="en" sz="1800" u="sng"/>
              <a:t>Structured or modular programming.</a:t>
            </a:r>
            <a:r>
              <a:rPr lang="en" sz="1800"/>
              <a:t> This includes languages such as PHP</a:t>
            </a:r>
            <a:endParaRPr sz="1800"/>
          </a:p>
          <a:p>
            <a:pPr indent="-317182" lvl="0" marL="457200" rtl="0" algn="l">
              <a:spcBef>
                <a:spcPts val="0"/>
              </a:spcBef>
              <a:spcAft>
                <a:spcPts val="0"/>
              </a:spcAft>
              <a:buSzPct val="100000"/>
              <a:buChar char="●"/>
            </a:pPr>
            <a:r>
              <a:rPr lang="en" sz="1800" u="sng"/>
              <a:t>Imperative programming.</a:t>
            </a:r>
            <a:r>
              <a:rPr lang="en" sz="1800"/>
              <a:t> This alternative to OOP focuses on function rather than models and includes C++ and Java.</a:t>
            </a:r>
            <a:br>
              <a:rPr lang="en" sz="1800"/>
            </a:br>
            <a:endParaRPr sz="1800"/>
          </a:p>
          <a:p>
            <a:pPr indent="-317182" lvl="0" marL="457200" rtl="0" algn="l">
              <a:spcBef>
                <a:spcPts val="0"/>
              </a:spcBef>
              <a:spcAft>
                <a:spcPts val="0"/>
              </a:spcAft>
              <a:buSzPct val="100000"/>
              <a:buChar char="●"/>
            </a:pPr>
            <a:r>
              <a:rPr lang="en" sz="1800" u="sng"/>
              <a:t>Scripting Programming Languages</a:t>
            </a:r>
            <a:r>
              <a:rPr lang="en" sz="1800"/>
              <a:t> like Powershell and Bash, often used to designed for scripting, which involves automating the execution of tasks.often interpreted rather than compiled, allowing for quicker development and ease of testing </a:t>
            </a:r>
            <a:br>
              <a:rPr lang="en" sz="1800"/>
            </a:br>
            <a:endParaRPr sz="1800"/>
          </a:p>
          <a:p>
            <a:pPr indent="-317182" lvl="0" marL="457200" rtl="0" algn="l">
              <a:spcBef>
                <a:spcPts val="0"/>
              </a:spcBef>
              <a:spcAft>
                <a:spcPts val="0"/>
              </a:spcAft>
              <a:buSzPct val="100000"/>
              <a:buChar char="●"/>
            </a:pPr>
            <a:r>
              <a:rPr lang="en" sz="1800" u="sng"/>
              <a:t>Declarative programming .</a:t>
            </a:r>
            <a:r>
              <a:rPr lang="en" sz="1800"/>
              <a:t> This programming method involves statements on what the task or desired outcome is but not how to achieve it. Languages include Prolog and Lisp.</a:t>
            </a:r>
            <a:br>
              <a:rPr lang="en" sz="1800"/>
            </a:br>
            <a:endParaRPr sz="1800"/>
          </a:p>
          <a:p>
            <a:pPr indent="-317182" lvl="0" marL="457200" rtl="0" algn="l">
              <a:spcBef>
                <a:spcPts val="0"/>
              </a:spcBef>
              <a:spcAft>
                <a:spcPts val="0"/>
              </a:spcAft>
              <a:buSzPct val="100000"/>
              <a:buChar char="●"/>
            </a:pPr>
            <a:r>
              <a:rPr lang="en" sz="1800" u="sng"/>
              <a:t>Logical programming.</a:t>
            </a:r>
            <a:r>
              <a:rPr lang="en" sz="1800"/>
              <a:t> This method, which is based mostly in formal logic and uses languages such as Prolog, contains a set of sentences that express facts or rules about a problem domain. It focuses on tasks that can benefit from rule-based logical queries.</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ctrTitle"/>
          </p:nvPr>
        </p:nvSpPr>
        <p:spPr>
          <a:xfrm>
            <a:off x="223625" y="223625"/>
            <a:ext cx="8735700" cy="9435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Concepts - Class &amp; Object P1</a:t>
            </a:r>
            <a:endParaRPr sz="2900"/>
          </a:p>
        </p:txBody>
      </p:sp>
      <p:sp>
        <p:nvSpPr>
          <p:cNvPr id="114" name="Google Shape;114;p22"/>
          <p:cNvSpPr txBox="1"/>
          <p:nvPr>
            <p:ph idx="1" type="subTitle"/>
          </p:nvPr>
        </p:nvSpPr>
        <p:spPr>
          <a:xfrm>
            <a:off x="223625" y="1167125"/>
            <a:ext cx="8735700" cy="3892800"/>
          </a:xfrm>
          <a:prstGeom prst="rect">
            <a:avLst/>
          </a:prstGeom>
        </p:spPr>
        <p:txBody>
          <a:bodyPr anchorCtr="0" anchor="ctr" bIns="91425" lIns="91425" spcFirstLastPara="1" rIns="91425" wrap="square" tIns="91425">
            <a:normAutofit fontScale="77500" lnSpcReduction="20000"/>
          </a:bodyPr>
          <a:lstStyle/>
          <a:p>
            <a:pPr indent="0" lvl="0" marL="0" rtl="0" algn="l">
              <a:spcBef>
                <a:spcPts val="0"/>
              </a:spcBef>
              <a:spcAft>
                <a:spcPts val="0"/>
              </a:spcAft>
              <a:buNone/>
            </a:pPr>
            <a:r>
              <a:rPr lang="en" sz="1800"/>
              <a:t>Class as a Blueprint:</a:t>
            </a:r>
            <a:endParaRPr sz="1800"/>
          </a:p>
          <a:p>
            <a:pPr indent="0" lvl="0" marL="457200" rtl="0" algn="l">
              <a:spcBef>
                <a:spcPts val="0"/>
              </a:spcBef>
              <a:spcAft>
                <a:spcPts val="0"/>
              </a:spcAft>
              <a:buNone/>
            </a:pPr>
            <a:r>
              <a:t/>
            </a:r>
            <a:endParaRPr sz="1800"/>
          </a:p>
          <a:p>
            <a:pPr indent="-317182" lvl="0" marL="457200" rtl="0" algn="l">
              <a:spcBef>
                <a:spcPts val="0"/>
              </a:spcBef>
              <a:spcAft>
                <a:spcPts val="0"/>
              </a:spcAft>
              <a:buSzPct val="100000"/>
              <a:buChar char="●"/>
            </a:pPr>
            <a:r>
              <a:rPr lang="en" sz="1800"/>
              <a:t>Explanation: A class serves as a blueprint or template for creating objects. It defines the structure and behavior that its objects will have.</a:t>
            </a:r>
            <a:endParaRPr sz="1800"/>
          </a:p>
          <a:p>
            <a:pPr indent="-317182" lvl="0" marL="457200" rtl="0" algn="l">
              <a:spcBef>
                <a:spcPts val="0"/>
              </a:spcBef>
              <a:spcAft>
                <a:spcPts val="0"/>
              </a:spcAft>
              <a:buSzPct val="100000"/>
              <a:buChar char="●"/>
            </a:pPr>
            <a:r>
              <a:rPr lang="en" sz="1800"/>
              <a:t>Describes the properties (attributes) an object can have.</a:t>
            </a:r>
            <a:endParaRPr sz="1800"/>
          </a:p>
          <a:p>
            <a:pPr indent="-317182" lvl="0" marL="457200" rtl="0" algn="l">
              <a:spcBef>
                <a:spcPts val="0"/>
              </a:spcBef>
              <a:spcAft>
                <a:spcPts val="0"/>
              </a:spcAft>
              <a:buSzPct val="100000"/>
              <a:buChar char="●"/>
            </a:pPr>
            <a:r>
              <a:rPr lang="en" sz="1800"/>
              <a:t>Outlines the methods (functions) that can be performed by the object.</a:t>
            </a:r>
            <a:br>
              <a:rPr lang="en" sz="1800"/>
            </a:br>
            <a:endParaRPr sz="1800"/>
          </a:p>
          <a:p>
            <a:pPr indent="0" lvl="0" marL="0" rtl="0" algn="l">
              <a:spcBef>
                <a:spcPts val="0"/>
              </a:spcBef>
              <a:spcAft>
                <a:spcPts val="0"/>
              </a:spcAft>
              <a:buNone/>
            </a:pPr>
            <a:r>
              <a:rPr lang="en" sz="1800"/>
              <a:t>Object as an Instance:</a:t>
            </a:r>
            <a:endParaRPr sz="1800"/>
          </a:p>
          <a:p>
            <a:pPr indent="0" lvl="0" marL="457200" rtl="0" algn="l">
              <a:spcBef>
                <a:spcPts val="0"/>
              </a:spcBef>
              <a:spcAft>
                <a:spcPts val="0"/>
              </a:spcAft>
              <a:buNone/>
            </a:pPr>
            <a:r>
              <a:t/>
            </a:r>
            <a:endParaRPr sz="1800"/>
          </a:p>
          <a:p>
            <a:pPr indent="-317182" lvl="0" marL="457200" rtl="0" algn="l">
              <a:spcBef>
                <a:spcPts val="0"/>
              </a:spcBef>
              <a:spcAft>
                <a:spcPts val="0"/>
              </a:spcAft>
              <a:buSzPct val="100000"/>
              <a:buChar char="●"/>
            </a:pPr>
            <a:r>
              <a:rPr lang="en" sz="1800"/>
              <a:t>Explanation: An object is an instance of a class, representing a specific entity in your program. It is created based on the structure defined by the class.</a:t>
            </a:r>
            <a:endParaRPr sz="1800"/>
          </a:p>
          <a:p>
            <a:pPr indent="-317182" lvl="0" marL="457200" rtl="0" algn="l">
              <a:spcBef>
                <a:spcPts val="0"/>
              </a:spcBef>
              <a:spcAft>
                <a:spcPts val="0"/>
              </a:spcAft>
              <a:buSzPct val="100000"/>
              <a:buChar char="●"/>
            </a:pPr>
            <a:r>
              <a:rPr lang="en" sz="1800"/>
              <a:t>Each object has its own set of properties and can execute methods independently.</a:t>
            </a:r>
            <a:endParaRPr sz="1800"/>
          </a:p>
          <a:p>
            <a:pPr indent="-317182" lvl="0" marL="457200" rtl="0" algn="l">
              <a:spcBef>
                <a:spcPts val="0"/>
              </a:spcBef>
              <a:spcAft>
                <a:spcPts val="0"/>
              </a:spcAft>
              <a:buSzPct val="100000"/>
              <a:buChar char="●"/>
            </a:pPr>
            <a:r>
              <a:rPr lang="en" sz="1800"/>
              <a:t>Objects are tangible instances of real-world entities within the program.</a:t>
            </a:r>
            <a:br>
              <a:rPr lang="en" sz="1800"/>
            </a:br>
            <a:endParaRPr sz="1800"/>
          </a:p>
          <a:p>
            <a:pPr indent="0" lvl="0" marL="0" rtl="0" algn="l">
              <a:spcBef>
                <a:spcPts val="0"/>
              </a:spcBef>
              <a:spcAft>
                <a:spcPts val="0"/>
              </a:spcAft>
              <a:buNone/>
            </a:pPr>
            <a:r>
              <a:rPr lang="en" sz="1800"/>
              <a:t>Properties and Methods:</a:t>
            </a:r>
            <a:endParaRPr sz="1800"/>
          </a:p>
          <a:p>
            <a:pPr indent="0" lvl="0" marL="457200" rtl="0" algn="l">
              <a:spcBef>
                <a:spcPts val="0"/>
              </a:spcBef>
              <a:spcAft>
                <a:spcPts val="0"/>
              </a:spcAft>
              <a:buNone/>
            </a:pPr>
            <a:r>
              <a:t/>
            </a:r>
            <a:endParaRPr sz="1800"/>
          </a:p>
          <a:p>
            <a:pPr indent="-317182" lvl="0" marL="457200" rtl="0" algn="l">
              <a:spcBef>
                <a:spcPts val="0"/>
              </a:spcBef>
              <a:spcAft>
                <a:spcPts val="0"/>
              </a:spcAft>
              <a:buSzPct val="100000"/>
              <a:buChar char="●"/>
            </a:pPr>
            <a:r>
              <a:rPr lang="en" sz="1800"/>
              <a:t>Explanation: Properties define the characteristics or data members of a class, while methods define the behaviors or operations that the class can perform.</a:t>
            </a:r>
            <a:endParaRPr sz="1800"/>
          </a:p>
          <a:p>
            <a:pPr indent="-317182" lvl="0" marL="457200" rtl="0" algn="l">
              <a:spcBef>
                <a:spcPts val="0"/>
              </a:spcBef>
              <a:spcAft>
                <a:spcPts val="0"/>
              </a:spcAft>
              <a:buSzPct val="100000"/>
              <a:buChar char="●"/>
            </a:pPr>
            <a:r>
              <a:rPr lang="en" sz="1800"/>
              <a:t>Properties store information about the object's state.</a:t>
            </a:r>
            <a:endParaRPr sz="1800"/>
          </a:p>
          <a:p>
            <a:pPr indent="-317182" lvl="0" marL="457200" rtl="0" algn="l">
              <a:spcBef>
                <a:spcPts val="0"/>
              </a:spcBef>
              <a:spcAft>
                <a:spcPts val="0"/>
              </a:spcAft>
              <a:buSzPct val="100000"/>
              <a:buChar char="●"/>
            </a:pPr>
            <a:r>
              <a:rPr lang="en" sz="1800"/>
              <a:t>Methods encapsulate actions that the object can take.</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Concepts - Class &amp; Object P2</a:t>
            </a:r>
            <a:endParaRPr sz="2900"/>
          </a:p>
        </p:txBody>
      </p:sp>
      <p:sp>
        <p:nvSpPr>
          <p:cNvPr id="120" name="Google Shape;120;p23"/>
          <p:cNvSpPr txBox="1"/>
          <p:nvPr>
            <p:ph idx="1" type="subTitle"/>
          </p:nvPr>
        </p:nvSpPr>
        <p:spPr>
          <a:xfrm>
            <a:off x="223625" y="1277675"/>
            <a:ext cx="8735700" cy="3642300"/>
          </a:xfrm>
          <a:prstGeom prst="rect">
            <a:avLst/>
          </a:prstGeom>
        </p:spPr>
        <p:txBody>
          <a:bodyPr anchorCtr="0" anchor="ctr" bIns="91425" lIns="91425" spcFirstLastPara="1" rIns="91425" wrap="square" tIns="91425">
            <a:normAutofit fontScale="77500" lnSpcReduction="10000"/>
          </a:bodyPr>
          <a:lstStyle/>
          <a:p>
            <a:pPr indent="0" lvl="0" marL="0" rtl="0" algn="l">
              <a:spcBef>
                <a:spcPts val="0"/>
              </a:spcBef>
              <a:spcAft>
                <a:spcPts val="0"/>
              </a:spcAft>
              <a:buNone/>
            </a:pPr>
            <a:r>
              <a:t/>
            </a:r>
            <a:endParaRPr sz="1800"/>
          </a:p>
          <a:p>
            <a:pPr indent="0" lvl="0" marL="0" rtl="0" algn="l">
              <a:spcBef>
                <a:spcPts val="0"/>
              </a:spcBef>
              <a:spcAft>
                <a:spcPts val="0"/>
              </a:spcAft>
              <a:buNone/>
            </a:pPr>
            <a:r>
              <a:rPr lang="en" sz="1800"/>
              <a:t>Instantiating Objects:</a:t>
            </a:r>
            <a:endParaRPr sz="1800"/>
          </a:p>
          <a:p>
            <a:pPr indent="0" lvl="0" marL="457200" rtl="0" algn="l">
              <a:spcBef>
                <a:spcPts val="0"/>
              </a:spcBef>
              <a:spcAft>
                <a:spcPts val="0"/>
              </a:spcAft>
              <a:buNone/>
            </a:pPr>
            <a:r>
              <a:t/>
            </a:r>
            <a:endParaRPr sz="1800"/>
          </a:p>
          <a:p>
            <a:pPr indent="-317182" lvl="0" marL="457200" rtl="0" algn="l">
              <a:spcBef>
                <a:spcPts val="0"/>
              </a:spcBef>
              <a:spcAft>
                <a:spcPts val="0"/>
              </a:spcAft>
              <a:buSzPct val="100000"/>
              <a:buChar char="●"/>
            </a:pPr>
            <a:r>
              <a:rPr lang="en" sz="1800"/>
              <a:t>Explanation: To use a class in your code, you need to create objects from that class. This process is known as instantiation.</a:t>
            </a:r>
            <a:endParaRPr sz="1800"/>
          </a:p>
          <a:p>
            <a:pPr indent="-317182" lvl="0" marL="457200" rtl="0" algn="l">
              <a:spcBef>
                <a:spcPts val="0"/>
              </a:spcBef>
              <a:spcAft>
                <a:spcPts val="0"/>
              </a:spcAft>
              <a:buSzPct val="100000"/>
              <a:buChar char="●"/>
            </a:pPr>
            <a:r>
              <a:rPr lang="en" sz="1800"/>
              <a:t>The new keyword is used to create an instance of a class.</a:t>
            </a:r>
            <a:endParaRPr sz="1800"/>
          </a:p>
          <a:p>
            <a:pPr indent="-317182" lvl="0" marL="457200" rtl="0" algn="l">
              <a:spcBef>
                <a:spcPts val="0"/>
              </a:spcBef>
              <a:spcAft>
                <a:spcPts val="0"/>
              </a:spcAft>
              <a:buSzPct val="100000"/>
              <a:buChar char="●"/>
            </a:pPr>
            <a:r>
              <a:rPr lang="en" sz="1800"/>
              <a:t>Objects created from the same class share the class's structure but have unique data.</a:t>
            </a:r>
            <a:endParaRPr sz="1800"/>
          </a:p>
          <a:p>
            <a:pPr indent="0" lvl="0" marL="457200" rtl="0" algn="l">
              <a:spcBef>
                <a:spcPts val="0"/>
              </a:spcBef>
              <a:spcAft>
                <a:spcPts val="0"/>
              </a:spcAft>
              <a:buNone/>
            </a:pPr>
            <a:r>
              <a:t/>
            </a:r>
            <a:endParaRPr sz="1800"/>
          </a:p>
          <a:p>
            <a:pPr indent="0" lvl="0" marL="0" rtl="0" algn="l">
              <a:spcBef>
                <a:spcPts val="0"/>
              </a:spcBef>
              <a:spcAft>
                <a:spcPts val="0"/>
              </a:spcAft>
              <a:buNone/>
            </a:pPr>
            <a:r>
              <a:rPr lang="en" sz="1800"/>
              <a:t>Encapsulation and Abstraction:</a:t>
            </a:r>
            <a:br>
              <a:rPr lang="en" sz="1800"/>
            </a:br>
            <a:endParaRPr sz="1800"/>
          </a:p>
          <a:p>
            <a:pPr indent="-317182" lvl="0" marL="457200" rtl="0" algn="l">
              <a:spcBef>
                <a:spcPts val="0"/>
              </a:spcBef>
              <a:spcAft>
                <a:spcPts val="0"/>
              </a:spcAft>
              <a:buSzPct val="100000"/>
              <a:buChar char="●"/>
            </a:pPr>
            <a:r>
              <a:rPr lang="en" sz="1800"/>
              <a:t>Explanation: Classes provide encapsulation by bundling data and methods together. Abstraction is achieved by exposing only essential details and hiding the complex implementation.</a:t>
            </a:r>
            <a:endParaRPr sz="1800"/>
          </a:p>
          <a:p>
            <a:pPr indent="-317182" lvl="0" marL="457200" rtl="0" algn="l">
              <a:spcBef>
                <a:spcPts val="0"/>
              </a:spcBef>
              <a:spcAft>
                <a:spcPts val="0"/>
              </a:spcAft>
              <a:buSzPct val="100000"/>
              <a:buChar char="●"/>
            </a:pPr>
            <a:r>
              <a:rPr lang="en" sz="1800"/>
              <a:t>Encapsulation enhances security and modifiability.</a:t>
            </a:r>
            <a:endParaRPr sz="1800"/>
          </a:p>
          <a:p>
            <a:pPr indent="-317182" lvl="0" marL="457200" rtl="0" algn="l">
              <a:spcBef>
                <a:spcPts val="0"/>
              </a:spcBef>
              <a:spcAft>
                <a:spcPts val="0"/>
              </a:spcAft>
              <a:buSzPct val="100000"/>
              <a:buChar char="●"/>
            </a:pPr>
            <a:r>
              <a:rPr lang="en" sz="1800"/>
              <a:t>Abstraction allows developers to focus on the necessary features, reducing complexity.</a:t>
            </a:r>
            <a:endParaRPr sz="1800"/>
          </a:p>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ctrTitle"/>
          </p:nvPr>
        </p:nvSpPr>
        <p:spPr>
          <a:xfrm>
            <a:off x="223625" y="223625"/>
            <a:ext cx="8735700" cy="6849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Clr>
                <a:schemeClr val="dk2"/>
              </a:buClr>
              <a:buSzPts val="1100"/>
              <a:buFont typeface="Arial"/>
              <a:buNone/>
            </a:pPr>
            <a:r>
              <a:rPr lang="en" sz="2900">
                <a:latin typeface="Montserrat"/>
                <a:ea typeface="Montserrat"/>
                <a:cs typeface="Montserrat"/>
                <a:sym typeface="Montserrat"/>
              </a:rPr>
              <a:t>OOP Concepts - Class &amp; Object P3</a:t>
            </a:r>
            <a:endParaRPr sz="2900"/>
          </a:p>
        </p:txBody>
      </p:sp>
      <p:sp>
        <p:nvSpPr>
          <p:cNvPr id="126" name="Google Shape;126;p24"/>
          <p:cNvSpPr txBox="1"/>
          <p:nvPr>
            <p:ph idx="1" type="subTitle"/>
          </p:nvPr>
        </p:nvSpPr>
        <p:spPr>
          <a:xfrm>
            <a:off x="223625" y="908525"/>
            <a:ext cx="8735700" cy="4172100"/>
          </a:xfrm>
          <a:prstGeom prst="rect">
            <a:avLst/>
          </a:prstGeom>
        </p:spPr>
        <p:txBody>
          <a:bodyPr anchorCtr="0" anchor="ctr" bIns="91425" lIns="91425" spcFirstLastPara="1" rIns="91425" wrap="square" tIns="91425">
            <a:normAutofit/>
          </a:bodyPr>
          <a:lstStyle/>
          <a:p>
            <a:pPr indent="-330200" lvl="0" marL="4572000" rtl="0" algn="l">
              <a:spcBef>
                <a:spcPts val="0"/>
              </a:spcBef>
              <a:spcAft>
                <a:spcPts val="0"/>
              </a:spcAft>
              <a:buSzPts val="1600"/>
              <a:buChar char="●"/>
            </a:pPr>
            <a:r>
              <a:rPr lang="en" sz="1600"/>
              <a:t>Each class defines a blueprint for creating objects with specific attributes (properties) and behaviors (methods).</a:t>
            </a:r>
            <a:endParaRPr sz="1600"/>
          </a:p>
          <a:p>
            <a:pPr indent="-330200" lvl="0" marL="4572000" rtl="0" algn="l">
              <a:spcBef>
                <a:spcPts val="0"/>
              </a:spcBef>
              <a:spcAft>
                <a:spcPts val="0"/>
              </a:spcAft>
              <a:buSzPts val="1600"/>
              <a:buChar char="●"/>
            </a:pPr>
            <a:r>
              <a:rPr lang="en" sz="1600"/>
              <a:t>O</a:t>
            </a:r>
            <a:r>
              <a:rPr lang="en" sz="1600"/>
              <a:t>bjects, are  </a:t>
            </a:r>
            <a:r>
              <a:rPr lang="en" sz="1600" u="sng"/>
              <a:t>instances of classes</a:t>
            </a:r>
            <a:r>
              <a:rPr lang="en" sz="1600"/>
              <a:t>.</a:t>
            </a:r>
            <a:endParaRPr sz="1600"/>
          </a:p>
          <a:p>
            <a:pPr indent="-330200" lvl="0" marL="4572000" rtl="0" algn="l">
              <a:spcBef>
                <a:spcPts val="0"/>
              </a:spcBef>
              <a:spcAft>
                <a:spcPts val="0"/>
              </a:spcAft>
              <a:buSzPts val="1600"/>
              <a:buChar char="●"/>
            </a:pPr>
            <a:r>
              <a:rPr lang="en" sz="1600"/>
              <a:t>The Car class has </a:t>
            </a:r>
            <a:r>
              <a:rPr lang="en" sz="1600" u="sng"/>
              <a:t>properties</a:t>
            </a:r>
            <a:r>
              <a:rPr lang="en" sz="1600"/>
              <a:t> (</a:t>
            </a:r>
            <a:r>
              <a:rPr lang="en" sz="1600">
                <a:solidFill>
                  <a:srgbClr val="4A86E8"/>
                </a:solidFill>
              </a:rPr>
              <a:t>Model, Color, Year</a:t>
            </a:r>
            <a:r>
              <a:rPr lang="en" sz="1600"/>
              <a:t>)</a:t>
            </a:r>
            <a:endParaRPr sz="1600"/>
          </a:p>
          <a:p>
            <a:pPr indent="-330200" lvl="0" marL="4572000" rtl="0" algn="l">
              <a:spcBef>
                <a:spcPts val="0"/>
              </a:spcBef>
              <a:spcAft>
                <a:spcPts val="0"/>
              </a:spcAft>
              <a:buSzPts val="1600"/>
              <a:buChar char="●"/>
            </a:pPr>
            <a:r>
              <a:rPr lang="en" sz="1600"/>
              <a:t>A </a:t>
            </a:r>
            <a:r>
              <a:rPr lang="en" sz="1600" u="sng"/>
              <a:t>constructor </a:t>
            </a:r>
            <a:r>
              <a:rPr lang="en" sz="1600"/>
              <a:t>(used for initializing object properties), and methods (</a:t>
            </a:r>
            <a:r>
              <a:rPr lang="en" sz="1600">
                <a:solidFill>
                  <a:srgbClr val="4A86E8"/>
                </a:solidFill>
              </a:rPr>
              <a:t>DisplayInfo, Start, Stop</a:t>
            </a:r>
            <a:r>
              <a:rPr lang="en" sz="1600"/>
              <a:t>).</a:t>
            </a:r>
            <a:endParaRPr sz="1600"/>
          </a:p>
          <a:p>
            <a:pPr indent="-330200" lvl="0" marL="4572000" rtl="0" algn="l">
              <a:spcBef>
                <a:spcPts val="0"/>
              </a:spcBef>
              <a:spcAft>
                <a:spcPts val="0"/>
              </a:spcAft>
              <a:buSzPts val="1600"/>
              <a:buChar char="●"/>
            </a:pPr>
            <a:r>
              <a:rPr lang="en" sz="1600"/>
              <a:t>Instantiate objects from a class to use their properties and methods.</a:t>
            </a:r>
            <a:endParaRPr sz="1600"/>
          </a:p>
          <a:p>
            <a:pPr indent="-330200" lvl="0" marL="4572000" rtl="0" algn="l">
              <a:spcBef>
                <a:spcPts val="0"/>
              </a:spcBef>
              <a:spcAft>
                <a:spcPts val="0"/>
              </a:spcAft>
              <a:buSzPts val="1600"/>
              <a:buChar char="●"/>
            </a:pPr>
            <a:r>
              <a:rPr lang="en" sz="1600"/>
              <a:t>Access properties using dot notation: </a:t>
            </a:r>
            <a:r>
              <a:rPr lang="en" sz="1600" u="sng">
                <a:solidFill>
                  <a:srgbClr val="4A86E8"/>
                </a:solidFill>
              </a:rPr>
              <a:t>myCar.Model</a:t>
            </a:r>
            <a:endParaRPr sz="1600" u="sng">
              <a:solidFill>
                <a:srgbClr val="4A86E8"/>
              </a:solidFill>
            </a:endParaRPr>
          </a:p>
          <a:p>
            <a:pPr indent="-330200" lvl="0" marL="4572000" rtl="0" algn="l">
              <a:spcBef>
                <a:spcPts val="0"/>
              </a:spcBef>
              <a:spcAft>
                <a:spcPts val="0"/>
              </a:spcAft>
              <a:buSzPts val="1600"/>
              <a:buChar char="●"/>
            </a:pPr>
            <a:r>
              <a:rPr lang="en" sz="1600"/>
              <a:t>Call methods using dot notation: </a:t>
            </a:r>
            <a:r>
              <a:rPr lang="en" sz="1600" u="sng">
                <a:solidFill>
                  <a:srgbClr val="4A86E8"/>
                </a:solidFill>
              </a:rPr>
              <a:t>myCar.DisplayInfo()</a:t>
            </a:r>
            <a:endParaRPr sz="1600" u="sng">
              <a:solidFill>
                <a:srgbClr val="4A86E8"/>
              </a:solidFill>
            </a:endParaRPr>
          </a:p>
        </p:txBody>
      </p:sp>
      <p:pic>
        <p:nvPicPr>
          <p:cNvPr id="127" name="Google Shape;127;p24"/>
          <p:cNvPicPr preferRelativeResize="0"/>
          <p:nvPr/>
        </p:nvPicPr>
        <p:blipFill rotWithShape="1">
          <a:blip r:embed="rId3">
            <a:alphaModFix/>
          </a:blip>
          <a:srcRect b="0" l="2819" r="1615" t="1156"/>
          <a:stretch/>
        </p:blipFill>
        <p:spPr>
          <a:xfrm>
            <a:off x="331725" y="1014513"/>
            <a:ext cx="4078001" cy="3371974"/>
          </a:xfrm>
          <a:prstGeom prst="rect">
            <a:avLst/>
          </a:prstGeom>
          <a:noFill/>
          <a:ln>
            <a:noFill/>
          </a:ln>
        </p:spPr>
      </p:pic>
      <p:pic>
        <p:nvPicPr>
          <p:cNvPr id="128" name="Google Shape;128;p24"/>
          <p:cNvPicPr preferRelativeResize="0"/>
          <p:nvPr/>
        </p:nvPicPr>
        <p:blipFill rotWithShape="1">
          <a:blip r:embed="rId4">
            <a:alphaModFix/>
          </a:blip>
          <a:srcRect b="0" l="0" r="0" t="13359"/>
          <a:stretch/>
        </p:blipFill>
        <p:spPr>
          <a:xfrm>
            <a:off x="286813" y="4492475"/>
            <a:ext cx="4167825" cy="447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Concepts - Message Passing</a:t>
            </a:r>
            <a:endParaRPr sz="2900"/>
          </a:p>
        </p:txBody>
      </p:sp>
      <p:sp>
        <p:nvSpPr>
          <p:cNvPr id="134" name="Google Shape;134;p25"/>
          <p:cNvSpPr txBox="1"/>
          <p:nvPr>
            <p:ph idx="1" type="subTitle"/>
          </p:nvPr>
        </p:nvSpPr>
        <p:spPr>
          <a:xfrm>
            <a:off x="223625" y="1277675"/>
            <a:ext cx="8735700" cy="3642300"/>
          </a:xfrm>
          <a:prstGeom prst="rect">
            <a:avLst/>
          </a:prstGeom>
        </p:spPr>
        <p:txBody>
          <a:bodyPr anchorCtr="0" anchor="ctr" bIns="91425" lIns="91425" spcFirstLastPara="1" rIns="91425" wrap="square" tIns="91425">
            <a:normAutofit fontScale="25000" lnSpcReduction="20000"/>
          </a:bodyPr>
          <a:lstStyle/>
          <a:p>
            <a:pPr indent="0" lvl="0" marL="45720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326719" lvl="0" marL="457200" rtl="0" algn="l">
              <a:spcBef>
                <a:spcPts val="0"/>
              </a:spcBef>
              <a:spcAft>
                <a:spcPts val="0"/>
              </a:spcAft>
              <a:buSzPct val="100000"/>
              <a:buChar char="●"/>
            </a:pPr>
            <a:r>
              <a:rPr lang="en" sz="6180"/>
              <a:t>M</a:t>
            </a:r>
            <a:r>
              <a:rPr lang="en" sz="6180"/>
              <a:t>essage passing is a technique for invoking behaviour (i.e., running a program) on a computer. The invoking of a program sends a message to a process (which may be an actor or object) and relies on the process and the supporting infrastructure to select and invoke the actual code to run.</a:t>
            </a:r>
            <a:endParaRPr sz="6180"/>
          </a:p>
          <a:p>
            <a:pPr indent="0" lvl="0" marL="457200" rtl="0" algn="l">
              <a:spcBef>
                <a:spcPts val="0"/>
              </a:spcBef>
              <a:spcAft>
                <a:spcPts val="0"/>
              </a:spcAft>
              <a:buNone/>
            </a:pPr>
            <a:r>
              <a:t/>
            </a:r>
            <a:endParaRPr sz="6180"/>
          </a:p>
          <a:p>
            <a:pPr indent="-326719" lvl="0" marL="457200" rtl="0" algn="l">
              <a:spcBef>
                <a:spcPts val="0"/>
              </a:spcBef>
              <a:spcAft>
                <a:spcPts val="0"/>
              </a:spcAft>
              <a:buSzPct val="100000"/>
              <a:buChar char="●"/>
            </a:pPr>
            <a:r>
              <a:rPr lang="en" sz="6180"/>
              <a:t>It is a form of communication used in object-oriented programming as well as parallel programming. </a:t>
            </a:r>
            <a:br>
              <a:rPr lang="en" sz="6180"/>
            </a:br>
            <a:endParaRPr sz="6180"/>
          </a:p>
          <a:p>
            <a:pPr indent="-326719" lvl="0" marL="457200" rtl="0" algn="l">
              <a:spcBef>
                <a:spcPts val="0"/>
              </a:spcBef>
              <a:spcAft>
                <a:spcPts val="0"/>
              </a:spcAft>
              <a:buSzPct val="100000"/>
              <a:buChar char="●"/>
            </a:pPr>
            <a:r>
              <a:rPr lang="en" sz="6180"/>
              <a:t>Objects communicate with one another by sending and receiving information to each other.</a:t>
            </a:r>
            <a:br>
              <a:rPr lang="en" sz="6180"/>
            </a:br>
            <a:endParaRPr sz="6180"/>
          </a:p>
          <a:p>
            <a:pPr indent="-326719" lvl="0" marL="457200" rtl="0" algn="l">
              <a:spcBef>
                <a:spcPts val="0"/>
              </a:spcBef>
              <a:spcAft>
                <a:spcPts val="0"/>
              </a:spcAft>
              <a:buSzPct val="100000"/>
              <a:buChar char="●"/>
            </a:pPr>
            <a:r>
              <a:rPr lang="en" sz="6180"/>
              <a:t>A message for an object is a request for execution of a procedure and therefore will invoke a function in the receiving object that generates the desired results. Message passing involves specifying the name of the object, the name of the function, and the information to be sent.</a:t>
            </a:r>
            <a:endParaRPr sz="618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ctrTitle"/>
          </p:nvPr>
        </p:nvSpPr>
        <p:spPr>
          <a:xfrm>
            <a:off x="223625" y="223625"/>
            <a:ext cx="8826300" cy="6918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Concepts - Message Passing</a:t>
            </a:r>
            <a:endParaRPr sz="2900"/>
          </a:p>
        </p:txBody>
      </p:sp>
      <p:sp>
        <p:nvSpPr>
          <p:cNvPr id="140" name="Google Shape;140;p26"/>
          <p:cNvSpPr txBox="1"/>
          <p:nvPr>
            <p:ph idx="1" type="subTitle"/>
          </p:nvPr>
        </p:nvSpPr>
        <p:spPr>
          <a:xfrm>
            <a:off x="223625" y="915425"/>
            <a:ext cx="8826300" cy="4130100"/>
          </a:xfrm>
          <a:prstGeom prst="rect">
            <a:avLst/>
          </a:prstGeom>
        </p:spPr>
        <p:txBody>
          <a:bodyPr anchorCtr="0" anchor="ctr" bIns="91425" lIns="91425" spcFirstLastPara="1" rIns="91425" wrap="square" tIns="91425">
            <a:normAutofit/>
          </a:bodyPr>
          <a:lstStyle/>
          <a:p>
            <a:pPr indent="0" lvl="0" marL="457200" rtl="0" algn="l">
              <a:spcBef>
                <a:spcPts val="0"/>
              </a:spcBef>
              <a:spcAft>
                <a:spcPts val="0"/>
              </a:spcAft>
              <a:buNone/>
            </a:pPr>
            <a:r>
              <a:rPr lang="en" sz="1800"/>
              <a:t>Asd						</a:t>
            </a:r>
            <a:endParaRPr sz="1800"/>
          </a:p>
          <a:p>
            <a:pPr indent="-342900" lvl="0" marL="457200" rtl="0" algn="l">
              <a:spcBef>
                <a:spcPts val="0"/>
              </a:spcBef>
              <a:spcAft>
                <a:spcPts val="0"/>
              </a:spcAft>
              <a:buSzPts val="1800"/>
              <a:buChar char="●"/>
            </a:pPr>
            <a:r>
              <a:t/>
            </a:r>
            <a:endParaRPr sz="1800"/>
          </a:p>
        </p:txBody>
      </p:sp>
      <p:pic>
        <p:nvPicPr>
          <p:cNvPr id="141" name="Google Shape;141;p26"/>
          <p:cNvPicPr preferRelativeResize="0"/>
          <p:nvPr/>
        </p:nvPicPr>
        <p:blipFill rotWithShape="1">
          <a:blip r:embed="rId3">
            <a:alphaModFix/>
          </a:blip>
          <a:srcRect b="0" l="0" r="1312" t="0"/>
          <a:stretch/>
        </p:blipFill>
        <p:spPr>
          <a:xfrm>
            <a:off x="279525" y="1132888"/>
            <a:ext cx="3160725" cy="3912625"/>
          </a:xfrm>
          <a:prstGeom prst="rect">
            <a:avLst/>
          </a:prstGeom>
          <a:noFill/>
          <a:ln>
            <a:noFill/>
          </a:ln>
        </p:spPr>
      </p:pic>
      <p:pic>
        <p:nvPicPr>
          <p:cNvPr id="142" name="Google Shape;142;p26"/>
          <p:cNvPicPr preferRelativeResize="0"/>
          <p:nvPr/>
        </p:nvPicPr>
        <p:blipFill>
          <a:blip r:embed="rId4">
            <a:alphaModFix/>
          </a:blip>
          <a:stretch>
            <a:fillRect/>
          </a:stretch>
        </p:blipFill>
        <p:spPr>
          <a:xfrm>
            <a:off x="3299900" y="1132900"/>
            <a:ext cx="3409950" cy="3504149"/>
          </a:xfrm>
          <a:prstGeom prst="rect">
            <a:avLst/>
          </a:prstGeom>
          <a:noFill/>
          <a:ln>
            <a:noFill/>
          </a:ln>
        </p:spPr>
      </p:pic>
      <p:pic>
        <p:nvPicPr>
          <p:cNvPr id="143" name="Google Shape;143;p26"/>
          <p:cNvPicPr preferRelativeResize="0"/>
          <p:nvPr/>
        </p:nvPicPr>
        <p:blipFill>
          <a:blip r:embed="rId5">
            <a:alphaModFix/>
          </a:blip>
          <a:stretch>
            <a:fillRect/>
          </a:stretch>
        </p:blipFill>
        <p:spPr>
          <a:xfrm>
            <a:off x="5693795" y="3163420"/>
            <a:ext cx="3160725" cy="1882095"/>
          </a:xfrm>
          <a:prstGeom prst="rect">
            <a:avLst/>
          </a:prstGeom>
          <a:noFill/>
          <a:ln>
            <a:noFill/>
          </a:ln>
        </p:spPr>
      </p:pic>
      <p:sp>
        <p:nvSpPr>
          <p:cNvPr id="144" name="Google Shape;144;p26"/>
          <p:cNvSpPr txBox="1"/>
          <p:nvPr/>
        </p:nvSpPr>
        <p:spPr>
          <a:xfrm>
            <a:off x="1202050" y="1006325"/>
            <a:ext cx="496200" cy="3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(1)</a:t>
            </a:r>
            <a:endParaRPr sz="1800">
              <a:solidFill>
                <a:schemeClr val="lt1"/>
              </a:solidFill>
              <a:latin typeface="Playfair Display"/>
              <a:ea typeface="Playfair Display"/>
              <a:cs typeface="Playfair Display"/>
              <a:sym typeface="Playfair Display"/>
            </a:endParaRPr>
          </a:p>
        </p:txBody>
      </p:sp>
      <p:sp>
        <p:nvSpPr>
          <p:cNvPr id="145" name="Google Shape;145;p26"/>
          <p:cNvSpPr txBox="1"/>
          <p:nvPr/>
        </p:nvSpPr>
        <p:spPr>
          <a:xfrm>
            <a:off x="4994400" y="1006325"/>
            <a:ext cx="496200" cy="3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(2)</a:t>
            </a:r>
            <a:endParaRPr sz="1800">
              <a:solidFill>
                <a:schemeClr val="lt1"/>
              </a:solidFill>
              <a:latin typeface="Playfair Display"/>
              <a:ea typeface="Playfair Display"/>
              <a:cs typeface="Playfair Display"/>
              <a:sym typeface="Playfair Display"/>
            </a:endParaRPr>
          </a:p>
        </p:txBody>
      </p:sp>
      <p:sp>
        <p:nvSpPr>
          <p:cNvPr id="146" name="Google Shape;146;p26"/>
          <p:cNvSpPr txBox="1"/>
          <p:nvPr/>
        </p:nvSpPr>
        <p:spPr>
          <a:xfrm>
            <a:off x="7130888" y="3163425"/>
            <a:ext cx="496200" cy="3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(3)</a:t>
            </a:r>
            <a:endParaRPr sz="1800">
              <a:solidFill>
                <a:schemeClr val="lt1"/>
              </a:solidFill>
              <a:latin typeface="Playfair Display"/>
              <a:ea typeface="Playfair Display"/>
              <a:cs typeface="Playfair Display"/>
              <a:sym typeface="Playfair Displ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Concepts - </a:t>
            </a:r>
            <a:r>
              <a:rPr lang="en" sz="2900">
                <a:latin typeface="Montserrat"/>
                <a:ea typeface="Montserrat"/>
                <a:cs typeface="Montserrat"/>
                <a:sym typeface="Montserrat"/>
              </a:rPr>
              <a:t>Composition P1</a:t>
            </a:r>
            <a:endParaRPr sz="2900">
              <a:latin typeface="Montserrat"/>
              <a:ea typeface="Montserrat"/>
              <a:cs typeface="Montserrat"/>
              <a:sym typeface="Montserrat"/>
            </a:endParaRPr>
          </a:p>
        </p:txBody>
      </p:sp>
      <p:sp>
        <p:nvSpPr>
          <p:cNvPr id="152" name="Google Shape;152;p27"/>
          <p:cNvSpPr txBox="1"/>
          <p:nvPr>
            <p:ph idx="1" type="subTitle"/>
          </p:nvPr>
        </p:nvSpPr>
        <p:spPr>
          <a:xfrm>
            <a:off x="223625" y="1277675"/>
            <a:ext cx="8735700" cy="3782100"/>
          </a:xfrm>
          <a:prstGeom prst="rect">
            <a:avLst/>
          </a:prstGeom>
        </p:spPr>
        <p:txBody>
          <a:bodyPr anchorCtr="0" anchor="ctr" bIns="91425" lIns="91425" spcFirstLastPara="1" rIns="91425" wrap="square" tIns="91425">
            <a:normAutofit fontScale="85000" lnSpcReduction="20000"/>
          </a:bodyPr>
          <a:lstStyle/>
          <a:p>
            <a:pPr indent="0" lvl="0" marL="45720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Composition is another type of relationship between classes that allows one class to contain the other.</a:t>
            </a:r>
            <a:endParaRPr sz="1800"/>
          </a:p>
          <a:p>
            <a:pPr indent="0" lvl="0" marL="45720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Composition is usually referred to as a Has-A relationship. For example, a car has an engine.</a:t>
            </a:r>
            <a:endParaRPr sz="1800"/>
          </a:p>
          <a:p>
            <a:pPr indent="0" lvl="0" marL="45720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Just like inheritance, composition allows for code reuse. Composition is more flexible and is a means to designing loosely coupled applications.</a:t>
            </a:r>
            <a:endParaRPr sz="1800"/>
          </a:p>
          <a:p>
            <a:pPr indent="0" lvl="0" marL="45720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For e.g. </a:t>
            </a:r>
            <a:r>
              <a:rPr lang="en" sz="1800"/>
              <a:t>We may have a logging class that’s responsible for only logging to a text file. This class can then be used by any other class in our application to log anything, it’s not coupled to a specific class to only log for that class.</a:t>
            </a:r>
            <a:endParaRPr sz="1800"/>
          </a:p>
          <a:p>
            <a:pPr indent="0" lvl="0" marL="45720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Composition is a fundamental concept in object-oriented programming that allows you to build complex objects by combining simpler ones.</a:t>
            </a:r>
            <a:endParaRPr sz="1800"/>
          </a:p>
          <a:p>
            <a:pPr indent="0" lvl="0" marL="45720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In composition, one class contains an instance of another class, and the combined object can exhibit behaviors and characteristics of both classes.</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Concepts - Composition P2</a:t>
            </a:r>
            <a:endParaRPr sz="2900">
              <a:latin typeface="Montserrat"/>
              <a:ea typeface="Montserrat"/>
              <a:cs typeface="Montserrat"/>
              <a:sym typeface="Montserrat"/>
            </a:endParaRPr>
          </a:p>
        </p:txBody>
      </p:sp>
      <p:sp>
        <p:nvSpPr>
          <p:cNvPr id="158" name="Google Shape;158;p28"/>
          <p:cNvSpPr txBox="1"/>
          <p:nvPr>
            <p:ph idx="1" type="subTitle"/>
          </p:nvPr>
        </p:nvSpPr>
        <p:spPr>
          <a:xfrm>
            <a:off x="223625" y="1277675"/>
            <a:ext cx="8735700" cy="3782100"/>
          </a:xfrm>
          <a:prstGeom prst="rect">
            <a:avLst/>
          </a:prstGeom>
        </p:spPr>
        <p:txBody>
          <a:bodyPr anchorCtr="0" anchor="ctr" bIns="91425" lIns="91425" spcFirstLastPara="1" rIns="91425" wrap="square" tIns="91425">
            <a:normAutofit/>
          </a:bodyPr>
          <a:lstStyle/>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1800"/>
          </a:p>
        </p:txBody>
      </p:sp>
      <p:pic>
        <p:nvPicPr>
          <p:cNvPr id="159" name="Google Shape;159;p28"/>
          <p:cNvPicPr preferRelativeResize="0"/>
          <p:nvPr/>
        </p:nvPicPr>
        <p:blipFill>
          <a:blip r:embed="rId3">
            <a:alphaModFix/>
          </a:blip>
          <a:stretch>
            <a:fillRect/>
          </a:stretch>
        </p:blipFill>
        <p:spPr>
          <a:xfrm>
            <a:off x="327650" y="1529975"/>
            <a:ext cx="4019175" cy="3112400"/>
          </a:xfrm>
          <a:prstGeom prst="rect">
            <a:avLst/>
          </a:prstGeom>
          <a:noFill/>
          <a:ln>
            <a:noFill/>
          </a:ln>
        </p:spPr>
      </p:pic>
      <p:pic>
        <p:nvPicPr>
          <p:cNvPr id="160" name="Google Shape;160;p28"/>
          <p:cNvPicPr preferRelativeResize="0"/>
          <p:nvPr/>
        </p:nvPicPr>
        <p:blipFill>
          <a:blip r:embed="rId4">
            <a:alphaModFix/>
          </a:blip>
          <a:stretch>
            <a:fillRect/>
          </a:stretch>
        </p:blipFill>
        <p:spPr>
          <a:xfrm>
            <a:off x="4851525" y="1376825"/>
            <a:ext cx="3776050" cy="345577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Concepts - Composition P3</a:t>
            </a:r>
            <a:endParaRPr sz="2900">
              <a:latin typeface="Montserrat"/>
              <a:ea typeface="Montserrat"/>
              <a:cs typeface="Montserrat"/>
              <a:sym typeface="Montserrat"/>
            </a:endParaRPr>
          </a:p>
        </p:txBody>
      </p:sp>
      <p:sp>
        <p:nvSpPr>
          <p:cNvPr id="166" name="Google Shape;166;p29"/>
          <p:cNvSpPr txBox="1"/>
          <p:nvPr>
            <p:ph idx="1" type="subTitle"/>
          </p:nvPr>
        </p:nvSpPr>
        <p:spPr>
          <a:xfrm>
            <a:off x="223625" y="1277675"/>
            <a:ext cx="8735700" cy="3782100"/>
          </a:xfrm>
          <a:prstGeom prst="rect">
            <a:avLst/>
          </a:prstGeom>
        </p:spPr>
        <p:txBody>
          <a:bodyPr anchorCtr="0" anchor="ctr" bIns="91425" lIns="91425" spcFirstLastPara="1" rIns="91425" wrap="square" tIns="91425">
            <a:normAutofit fontScale="25000" lnSpcReduction="20000"/>
          </a:bodyPr>
          <a:lstStyle/>
          <a:p>
            <a:pPr indent="0" lvl="0" marL="5029200" rtl="0" algn="l">
              <a:spcBef>
                <a:spcPts val="0"/>
              </a:spcBef>
              <a:spcAft>
                <a:spcPts val="0"/>
              </a:spcAft>
              <a:buNone/>
            </a:pPr>
            <a:r>
              <a:t/>
            </a:r>
            <a:endParaRPr sz="1800"/>
          </a:p>
          <a:p>
            <a:pPr indent="0" lvl="0" marL="5029200" rtl="0" algn="l">
              <a:spcBef>
                <a:spcPts val="0"/>
              </a:spcBef>
              <a:spcAft>
                <a:spcPts val="0"/>
              </a:spcAft>
              <a:buNone/>
            </a:pPr>
            <a:r>
              <a:t/>
            </a:r>
            <a:endParaRPr sz="5115"/>
          </a:p>
          <a:p>
            <a:pPr indent="-309807" lvl="0" marL="5029200" rtl="0" algn="l">
              <a:spcBef>
                <a:spcPts val="0"/>
              </a:spcBef>
              <a:spcAft>
                <a:spcPts val="0"/>
              </a:spcAft>
              <a:buSzPct val="100000"/>
              <a:buChar char="●"/>
            </a:pPr>
            <a:r>
              <a:rPr lang="en" sz="5115"/>
              <a:t>In this example, the Person class has a composition relationship with the Job class through the CurrentJob property. </a:t>
            </a:r>
            <a:endParaRPr sz="5115"/>
          </a:p>
          <a:p>
            <a:pPr indent="0" lvl="0" marL="5029200" rtl="0" algn="l">
              <a:spcBef>
                <a:spcPts val="0"/>
              </a:spcBef>
              <a:spcAft>
                <a:spcPts val="0"/>
              </a:spcAft>
              <a:buNone/>
            </a:pPr>
            <a:r>
              <a:t/>
            </a:r>
            <a:endParaRPr sz="5115"/>
          </a:p>
          <a:p>
            <a:pPr indent="-309807" lvl="0" marL="5029200" rtl="0" algn="l">
              <a:spcBef>
                <a:spcPts val="0"/>
              </a:spcBef>
              <a:spcAft>
                <a:spcPts val="0"/>
              </a:spcAft>
              <a:buSzPct val="100000"/>
              <a:buChar char="●"/>
            </a:pPr>
            <a:r>
              <a:rPr lang="en" sz="5115"/>
              <a:t>The Person object contains a reference to a Job object, and you can access and use the job-related functionalities through the CurrentJob property.</a:t>
            </a:r>
            <a:endParaRPr sz="5115"/>
          </a:p>
          <a:p>
            <a:pPr indent="0" lvl="0" marL="5029200" rtl="0" algn="l">
              <a:spcBef>
                <a:spcPts val="0"/>
              </a:spcBef>
              <a:spcAft>
                <a:spcPts val="0"/>
              </a:spcAft>
              <a:buNone/>
            </a:pPr>
            <a:r>
              <a:t/>
            </a:r>
            <a:endParaRPr sz="5115"/>
          </a:p>
          <a:p>
            <a:pPr indent="-309807" lvl="0" marL="5029200" rtl="0" algn="l">
              <a:spcBef>
                <a:spcPts val="0"/>
              </a:spcBef>
              <a:spcAft>
                <a:spcPts val="0"/>
              </a:spcAft>
              <a:buSzPct val="100000"/>
              <a:buChar char="●"/>
            </a:pPr>
            <a:r>
              <a:rPr lang="en" sz="5115"/>
              <a:t>This composition approach allows for better flexibility and reusability. </a:t>
            </a:r>
            <a:br>
              <a:rPr lang="en" sz="5115"/>
            </a:br>
            <a:endParaRPr sz="5115"/>
          </a:p>
          <a:p>
            <a:pPr indent="-309807" lvl="0" marL="5029200" rtl="0" algn="l">
              <a:spcBef>
                <a:spcPts val="0"/>
              </a:spcBef>
              <a:spcAft>
                <a:spcPts val="0"/>
              </a:spcAft>
              <a:buSzPct val="100000"/>
              <a:buChar char="●"/>
            </a:pPr>
            <a:r>
              <a:rPr lang="en" sz="5115"/>
              <a:t>So If we need to change or add behaviors to the Job class, it won't affect the Person class as long as the interface remains the same.</a:t>
            </a:r>
            <a:endParaRPr sz="5115"/>
          </a:p>
          <a:p>
            <a:pPr indent="0" lvl="0" marL="5029200" rtl="0" algn="l">
              <a:spcBef>
                <a:spcPts val="0"/>
              </a:spcBef>
              <a:spcAft>
                <a:spcPts val="0"/>
              </a:spcAft>
              <a:buNone/>
            </a:pPr>
            <a:br>
              <a:rPr lang="en" sz="1800"/>
            </a:br>
            <a:br>
              <a:rPr lang="en" sz="1800"/>
            </a:br>
            <a:br>
              <a:rPr lang="en" sz="1800"/>
            </a:br>
            <a:br>
              <a:rPr lang="en" sz="1800"/>
            </a:br>
            <a:br>
              <a:rPr lang="en" sz="1800"/>
            </a:br>
            <a:br>
              <a:rPr lang="en" sz="1800"/>
            </a:br>
            <a:br>
              <a:rPr lang="en" sz="1800"/>
            </a:br>
            <a:br>
              <a:rPr lang="en" sz="1800"/>
            </a:br>
            <a:br>
              <a:rPr lang="en" sz="1800"/>
            </a:br>
            <a:endParaRPr sz="1800"/>
          </a:p>
          <a:p>
            <a:pPr indent="0" lvl="0" marL="457200" rtl="0" algn="l">
              <a:spcBef>
                <a:spcPts val="0"/>
              </a:spcBef>
              <a:spcAft>
                <a:spcPts val="0"/>
              </a:spcAft>
              <a:buNone/>
            </a:pPr>
            <a:r>
              <a:t/>
            </a:r>
            <a:endParaRPr sz="1800"/>
          </a:p>
        </p:txBody>
      </p:sp>
      <p:pic>
        <p:nvPicPr>
          <p:cNvPr id="167" name="Google Shape;167;p29"/>
          <p:cNvPicPr preferRelativeResize="0"/>
          <p:nvPr/>
        </p:nvPicPr>
        <p:blipFill>
          <a:blip r:embed="rId3">
            <a:alphaModFix/>
          </a:blip>
          <a:stretch>
            <a:fillRect/>
          </a:stretch>
        </p:blipFill>
        <p:spPr>
          <a:xfrm>
            <a:off x="296250" y="1527123"/>
            <a:ext cx="4480950" cy="2686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ctrTitle"/>
          </p:nvPr>
        </p:nvSpPr>
        <p:spPr>
          <a:xfrm>
            <a:off x="223625" y="223625"/>
            <a:ext cx="8791500" cy="580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Concepts - D</a:t>
            </a:r>
            <a:r>
              <a:rPr lang="en" sz="2900">
                <a:latin typeface="Montserrat"/>
                <a:ea typeface="Montserrat"/>
                <a:cs typeface="Montserrat"/>
                <a:sym typeface="Montserrat"/>
              </a:rPr>
              <a:t>elegation</a:t>
            </a:r>
            <a:endParaRPr sz="2900">
              <a:latin typeface="Montserrat"/>
              <a:ea typeface="Montserrat"/>
              <a:cs typeface="Montserrat"/>
              <a:sym typeface="Montserrat"/>
            </a:endParaRPr>
          </a:p>
        </p:txBody>
      </p:sp>
      <p:sp>
        <p:nvSpPr>
          <p:cNvPr id="173" name="Google Shape;173;p30"/>
          <p:cNvSpPr txBox="1"/>
          <p:nvPr>
            <p:ph idx="1" type="subTitle"/>
          </p:nvPr>
        </p:nvSpPr>
        <p:spPr>
          <a:xfrm>
            <a:off x="223625" y="803825"/>
            <a:ext cx="8791500" cy="4290900"/>
          </a:xfrm>
          <a:prstGeom prst="rect">
            <a:avLst/>
          </a:prstGeom>
        </p:spPr>
        <p:txBody>
          <a:bodyPr anchorCtr="0" anchor="ctr" bIns="91425" lIns="91425" spcFirstLastPara="1" rIns="91425" wrap="square" tIns="91425">
            <a:noAutofit/>
          </a:bodyPr>
          <a:lstStyle/>
          <a:p>
            <a:pPr indent="-292100" lvl="0" marL="5029200" rtl="0" algn="l">
              <a:spcBef>
                <a:spcPts val="0"/>
              </a:spcBef>
              <a:spcAft>
                <a:spcPts val="0"/>
              </a:spcAft>
              <a:buSzPts val="1000"/>
              <a:buChar char="●"/>
            </a:pPr>
            <a:r>
              <a:rPr lang="en" sz="1000"/>
              <a:t>In this example, the Student class represents a student who can perform the studying task, and the Teacher class delegates the studying task to a specific student</a:t>
            </a:r>
            <a:br>
              <a:rPr lang="en" sz="1000"/>
            </a:br>
            <a:endParaRPr sz="1000"/>
          </a:p>
          <a:p>
            <a:pPr indent="-292100" lvl="0" marL="5029200" rtl="0" algn="l">
              <a:spcBef>
                <a:spcPts val="0"/>
              </a:spcBef>
              <a:spcAft>
                <a:spcPts val="0"/>
              </a:spcAft>
              <a:buSzPts val="1000"/>
              <a:buChar char="●"/>
            </a:pPr>
            <a:r>
              <a:rPr lang="en" sz="1000"/>
              <a:t>This illustrates how delegation allows the Teacher class to delegate a specific responsibility (studying) to an instance of the Student class, promoting a separation of concerns and code reuse.</a:t>
            </a:r>
            <a:endParaRPr sz="1000"/>
          </a:p>
          <a:p>
            <a:pPr indent="0" lvl="0" marL="8229600" rtl="0" algn="l">
              <a:spcBef>
                <a:spcPts val="0"/>
              </a:spcBef>
              <a:spcAft>
                <a:spcPts val="0"/>
              </a:spcAft>
              <a:buNone/>
            </a:pPr>
            <a:br>
              <a:rPr lang="en" sz="1000"/>
            </a:br>
            <a:br>
              <a:rPr lang="en" sz="1000"/>
            </a:br>
            <a:br>
              <a:rPr lang="en" sz="1000"/>
            </a:br>
            <a:br>
              <a:rPr lang="en" sz="1000"/>
            </a:br>
            <a:br>
              <a:rPr lang="en" sz="1000"/>
            </a:br>
            <a:br>
              <a:rPr lang="en" sz="1000"/>
            </a:br>
            <a:br>
              <a:rPr lang="en" sz="1000"/>
            </a:br>
            <a:br>
              <a:rPr lang="en" sz="1000"/>
            </a:br>
            <a:br>
              <a:rPr lang="en" sz="1000"/>
            </a:br>
            <a:br>
              <a:rPr lang="en" sz="1000"/>
            </a:br>
            <a:br>
              <a:rPr lang="en" sz="1000"/>
            </a:br>
            <a:br>
              <a:rPr lang="en" sz="1000"/>
            </a:br>
            <a:br>
              <a:rPr lang="en" sz="1000"/>
            </a:br>
            <a:br>
              <a:rPr lang="en" sz="1000"/>
            </a:br>
            <a:endParaRPr sz="1000"/>
          </a:p>
          <a:p>
            <a:pPr indent="0" lvl="0" marL="0" rtl="0" algn="l">
              <a:spcBef>
                <a:spcPts val="0"/>
              </a:spcBef>
              <a:spcAft>
                <a:spcPts val="0"/>
              </a:spcAft>
              <a:buNone/>
            </a:pPr>
            <a:r>
              <a:t/>
            </a:r>
            <a:endParaRPr sz="1200"/>
          </a:p>
        </p:txBody>
      </p:sp>
      <p:pic>
        <p:nvPicPr>
          <p:cNvPr id="174" name="Google Shape;174;p30"/>
          <p:cNvPicPr preferRelativeResize="0"/>
          <p:nvPr/>
        </p:nvPicPr>
        <p:blipFill>
          <a:blip r:embed="rId3">
            <a:alphaModFix/>
          </a:blip>
          <a:stretch>
            <a:fillRect/>
          </a:stretch>
        </p:blipFill>
        <p:spPr>
          <a:xfrm>
            <a:off x="366475" y="1055250"/>
            <a:ext cx="4261326" cy="3591475"/>
          </a:xfrm>
          <a:prstGeom prst="rect">
            <a:avLst/>
          </a:prstGeom>
          <a:noFill/>
          <a:ln>
            <a:noFill/>
          </a:ln>
        </p:spPr>
      </p:pic>
      <p:pic>
        <p:nvPicPr>
          <p:cNvPr id="175" name="Google Shape;175;p30"/>
          <p:cNvPicPr preferRelativeResize="0"/>
          <p:nvPr/>
        </p:nvPicPr>
        <p:blipFill>
          <a:blip r:embed="rId4">
            <a:alphaModFix/>
          </a:blip>
          <a:stretch>
            <a:fillRect/>
          </a:stretch>
        </p:blipFill>
        <p:spPr>
          <a:xfrm>
            <a:off x="4766350" y="2655600"/>
            <a:ext cx="4060150" cy="2395825"/>
          </a:xfrm>
          <a:prstGeom prst="rect">
            <a:avLst/>
          </a:prstGeom>
          <a:noFill/>
          <a:ln>
            <a:noFill/>
          </a:ln>
        </p:spPr>
      </p:pic>
      <p:sp>
        <p:nvSpPr>
          <p:cNvPr id="176" name="Google Shape;176;p30"/>
          <p:cNvSpPr txBox="1"/>
          <p:nvPr/>
        </p:nvSpPr>
        <p:spPr>
          <a:xfrm>
            <a:off x="3046975" y="1362750"/>
            <a:ext cx="4614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(1)</a:t>
            </a:r>
            <a:endParaRPr sz="1800">
              <a:solidFill>
                <a:schemeClr val="lt1"/>
              </a:solidFill>
              <a:latin typeface="Playfair Display"/>
              <a:ea typeface="Playfair Display"/>
              <a:cs typeface="Playfair Display"/>
              <a:sym typeface="Playfair Display"/>
            </a:endParaRPr>
          </a:p>
        </p:txBody>
      </p:sp>
      <p:sp>
        <p:nvSpPr>
          <p:cNvPr id="177" name="Google Shape;177;p30"/>
          <p:cNvSpPr txBox="1"/>
          <p:nvPr/>
        </p:nvSpPr>
        <p:spPr>
          <a:xfrm>
            <a:off x="2346800" y="3003725"/>
            <a:ext cx="4614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(2)</a:t>
            </a:r>
            <a:endParaRPr sz="1800">
              <a:solidFill>
                <a:schemeClr val="lt1"/>
              </a:solidFill>
              <a:latin typeface="Playfair Display"/>
              <a:ea typeface="Playfair Display"/>
              <a:cs typeface="Playfair Display"/>
              <a:sym typeface="Playfair Display"/>
            </a:endParaRPr>
          </a:p>
        </p:txBody>
      </p:sp>
      <p:sp>
        <p:nvSpPr>
          <p:cNvPr id="178" name="Google Shape;178;p30"/>
          <p:cNvSpPr txBox="1"/>
          <p:nvPr/>
        </p:nvSpPr>
        <p:spPr>
          <a:xfrm>
            <a:off x="6210075" y="2611000"/>
            <a:ext cx="4614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(3)</a:t>
            </a:r>
            <a:endParaRPr sz="1800">
              <a:solidFill>
                <a:schemeClr val="lt1"/>
              </a:solidFill>
              <a:latin typeface="Playfair Display"/>
              <a:ea typeface="Playfair Display"/>
              <a:cs typeface="Playfair Display"/>
              <a:sym typeface="Playfair Displ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type="ctrTitle"/>
          </p:nvPr>
        </p:nvSpPr>
        <p:spPr>
          <a:xfrm>
            <a:off x="223625" y="223625"/>
            <a:ext cx="8735700" cy="8247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rPr lang="en" sz="2900">
                <a:latin typeface="Montserrat"/>
                <a:ea typeface="Montserrat"/>
                <a:cs typeface="Montserrat"/>
                <a:sym typeface="Montserrat"/>
              </a:rPr>
              <a:t>Real-world modeling and relationships P1</a:t>
            </a:r>
            <a:endParaRPr sz="2900"/>
          </a:p>
        </p:txBody>
      </p:sp>
      <p:sp>
        <p:nvSpPr>
          <p:cNvPr id="184" name="Google Shape;184;p31"/>
          <p:cNvSpPr txBox="1"/>
          <p:nvPr>
            <p:ph idx="1" type="subTitle"/>
          </p:nvPr>
        </p:nvSpPr>
        <p:spPr>
          <a:xfrm>
            <a:off x="223625" y="1048325"/>
            <a:ext cx="8735700" cy="3871500"/>
          </a:xfrm>
          <a:prstGeom prst="rect">
            <a:avLst/>
          </a:prstGeom>
        </p:spPr>
        <p:txBody>
          <a:bodyPr anchorCtr="0" anchor="ctr" bIns="91425" lIns="91425" spcFirstLastPara="1" rIns="91425" wrap="square" tIns="91425">
            <a:normAutofit fontScale="77500" lnSpcReduction="10000"/>
          </a:bodyPr>
          <a:lstStyle/>
          <a:p>
            <a:pPr indent="0" lvl="0" marL="0" rtl="0" algn="l">
              <a:spcBef>
                <a:spcPts val="0"/>
              </a:spcBef>
              <a:spcAft>
                <a:spcPts val="0"/>
              </a:spcAft>
              <a:buNone/>
            </a:pPr>
            <a:r>
              <a:t/>
            </a:r>
            <a:endParaRPr sz="1800"/>
          </a:p>
          <a:p>
            <a:pPr indent="0" lvl="0" marL="0" rtl="0" algn="l">
              <a:spcBef>
                <a:spcPts val="0"/>
              </a:spcBef>
              <a:spcAft>
                <a:spcPts val="0"/>
              </a:spcAft>
              <a:buNone/>
            </a:pPr>
            <a:r>
              <a:rPr lang="en" sz="1800"/>
              <a:t>“HAS-A” HIERARCHICAL RELATIONSHIP(Aggregation, Association, and Composition.)</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Car Dealership Hierarchy:</a:t>
            </a:r>
            <a:endParaRPr sz="1800"/>
          </a:p>
          <a:p>
            <a:pPr indent="0" lvl="0" marL="457200" rtl="0" algn="l">
              <a:spcBef>
                <a:spcPts val="0"/>
              </a:spcBef>
              <a:spcAft>
                <a:spcPts val="0"/>
              </a:spcAft>
              <a:buNone/>
            </a:pPr>
            <a:r>
              <a:t/>
            </a:r>
            <a:endParaRPr sz="1800"/>
          </a:p>
          <a:p>
            <a:pPr indent="-317182" lvl="0" marL="457200" rtl="0" algn="l">
              <a:spcBef>
                <a:spcPts val="0"/>
              </a:spcBef>
              <a:spcAft>
                <a:spcPts val="0"/>
              </a:spcAft>
              <a:buSzPct val="100000"/>
              <a:buChar char="●"/>
            </a:pPr>
            <a:r>
              <a:rPr lang="en" sz="1800"/>
              <a:t>Class: CarDealership</a:t>
            </a:r>
            <a:endParaRPr sz="1800"/>
          </a:p>
          <a:p>
            <a:pPr indent="-317182" lvl="0" marL="457200" rtl="0" algn="l">
              <a:spcBef>
                <a:spcPts val="0"/>
              </a:spcBef>
              <a:spcAft>
                <a:spcPts val="0"/>
              </a:spcAft>
              <a:buSzPct val="100000"/>
              <a:buChar char="●"/>
            </a:pPr>
            <a:r>
              <a:rPr lang="en" sz="1800"/>
              <a:t>Association: CarDealership has Customers (Association)</a:t>
            </a:r>
            <a:endParaRPr sz="1800"/>
          </a:p>
          <a:p>
            <a:pPr indent="-317182" lvl="0" marL="457200" rtl="0" algn="l">
              <a:spcBef>
                <a:spcPts val="0"/>
              </a:spcBef>
              <a:spcAft>
                <a:spcPts val="0"/>
              </a:spcAft>
              <a:buSzPct val="100000"/>
              <a:buChar char="●"/>
            </a:pPr>
            <a:r>
              <a:rPr lang="en" sz="1800"/>
              <a:t>Aggregation: CarDealership has Salespeople (Aggregation)</a:t>
            </a:r>
            <a:endParaRPr sz="1800"/>
          </a:p>
          <a:p>
            <a:pPr indent="-317182" lvl="0" marL="457200" rtl="0" algn="l">
              <a:spcBef>
                <a:spcPts val="0"/>
              </a:spcBef>
              <a:spcAft>
                <a:spcPts val="0"/>
              </a:spcAft>
              <a:buSzPct val="100000"/>
              <a:buChar char="●"/>
            </a:pPr>
            <a:r>
              <a:rPr lang="en" sz="1800"/>
              <a:t>Composition: CarDealership has CarInventory (Composition)</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Social Media Hierarchy:</a:t>
            </a:r>
            <a:endParaRPr sz="1800"/>
          </a:p>
          <a:p>
            <a:pPr indent="0" lvl="0" marL="0" rtl="0" algn="l">
              <a:spcBef>
                <a:spcPts val="0"/>
              </a:spcBef>
              <a:spcAft>
                <a:spcPts val="0"/>
              </a:spcAft>
              <a:buNone/>
            </a:pPr>
            <a:r>
              <a:t/>
            </a:r>
            <a:endParaRPr sz="1800"/>
          </a:p>
          <a:p>
            <a:pPr indent="-317182" lvl="0" marL="457200" rtl="0" algn="l">
              <a:spcBef>
                <a:spcPts val="0"/>
              </a:spcBef>
              <a:spcAft>
                <a:spcPts val="0"/>
              </a:spcAft>
              <a:buSzPct val="100000"/>
              <a:buChar char="●"/>
            </a:pPr>
            <a:r>
              <a:rPr lang="en" sz="1800"/>
              <a:t>Class: SocialMediaPlatform</a:t>
            </a:r>
            <a:endParaRPr sz="1800"/>
          </a:p>
          <a:p>
            <a:pPr indent="-317182" lvl="0" marL="457200" rtl="0" algn="l">
              <a:spcBef>
                <a:spcPts val="0"/>
              </a:spcBef>
              <a:spcAft>
                <a:spcPts val="0"/>
              </a:spcAft>
              <a:buSzPct val="100000"/>
              <a:buChar char="●"/>
            </a:pPr>
            <a:r>
              <a:rPr lang="en" sz="1800"/>
              <a:t>Association: SocialMediaPlatform has Users (Association)</a:t>
            </a:r>
            <a:endParaRPr sz="1800"/>
          </a:p>
          <a:p>
            <a:pPr indent="-317182" lvl="0" marL="457200" rtl="0" algn="l">
              <a:spcBef>
                <a:spcPts val="0"/>
              </a:spcBef>
              <a:spcAft>
                <a:spcPts val="0"/>
              </a:spcAft>
              <a:buSzPct val="100000"/>
              <a:buChar char="●"/>
            </a:pPr>
            <a:r>
              <a:rPr lang="en" sz="1800"/>
              <a:t>Aggregation: SocialMediaPlatform has Posts (Aggregation)</a:t>
            </a:r>
            <a:endParaRPr sz="1800"/>
          </a:p>
          <a:p>
            <a:pPr indent="-317182" lvl="0" marL="457200" rtl="0" algn="l">
              <a:spcBef>
                <a:spcPts val="0"/>
              </a:spcBef>
              <a:spcAft>
                <a:spcPts val="0"/>
              </a:spcAft>
              <a:buSzPct val="100000"/>
              <a:buChar char="●"/>
            </a:pPr>
            <a:r>
              <a:rPr lang="en" sz="1800"/>
              <a:t>Composition: Post has Comments (Composition)</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type="ctrTitle"/>
          </p:nvPr>
        </p:nvSpPr>
        <p:spPr>
          <a:xfrm>
            <a:off x="223625" y="223625"/>
            <a:ext cx="8735700" cy="8247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rPr lang="en" sz="2900">
                <a:latin typeface="Montserrat"/>
                <a:ea typeface="Montserrat"/>
                <a:cs typeface="Montserrat"/>
                <a:sym typeface="Montserrat"/>
              </a:rPr>
              <a:t>Real-world modeling and relationships P2</a:t>
            </a:r>
            <a:endParaRPr sz="2900"/>
          </a:p>
        </p:txBody>
      </p:sp>
      <p:sp>
        <p:nvSpPr>
          <p:cNvPr id="190" name="Google Shape;190;p32"/>
          <p:cNvSpPr txBox="1"/>
          <p:nvPr>
            <p:ph idx="1" type="subTitle"/>
          </p:nvPr>
        </p:nvSpPr>
        <p:spPr>
          <a:xfrm>
            <a:off x="223625" y="1048325"/>
            <a:ext cx="8735700" cy="3871500"/>
          </a:xfrm>
          <a:prstGeom prst="rect">
            <a:avLst/>
          </a:prstGeom>
        </p:spPr>
        <p:txBody>
          <a:bodyPr anchorCtr="0" anchor="ctr" bIns="91425" lIns="91425" spcFirstLastPara="1" rIns="91425" wrap="square" tIns="91425">
            <a:normAutofit fontScale="85000" lnSpcReduction="20000"/>
          </a:bodyPr>
          <a:lstStyle/>
          <a:p>
            <a:pPr indent="0" lvl="0" marL="0" rtl="0" algn="l">
              <a:spcBef>
                <a:spcPts val="0"/>
              </a:spcBef>
              <a:spcAft>
                <a:spcPts val="0"/>
              </a:spcAft>
              <a:buNone/>
            </a:pPr>
            <a:r>
              <a:t/>
            </a:r>
            <a:endParaRPr sz="1800"/>
          </a:p>
          <a:p>
            <a:pPr indent="0" lvl="0" marL="0" rtl="0" algn="l">
              <a:spcBef>
                <a:spcPts val="0"/>
              </a:spcBef>
              <a:spcAft>
                <a:spcPts val="0"/>
              </a:spcAft>
              <a:buNone/>
            </a:pPr>
            <a:r>
              <a:rPr lang="en" sz="1800"/>
              <a:t>“IS-A” HIERARCHICAL RELATIONSHIPS(Inheritance)</a:t>
            </a:r>
            <a:endParaRPr sz="1800"/>
          </a:p>
          <a:p>
            <a:pPr indent="0" lvl="0" marL="0" rtl="0" algn="l">
              <a:spcBef>
                <a:spcPts val="0"/>
              </a:spcBef>
              <a:spcAft>
                <a:spcPts val="0"/>
              </a:spcAft>
              <a:buNone/>
            </a:pPr>
            <a:br>
              <a:rPr lang="en" sz="1800"/>
            </a:br>
            <a:endParaRPr sz="1800"/>
          </a:p>
          <a:p>
            <a:pPr indent="0" lvl="0" marL="0" rtl="0" algn="l">
              <a:spcBef>
                <a:spcPts val="0"/>
              </a:spcBef>
              <a:spcAft>
                <a:spcPts val="0"/>
              </a:spcAft>
              <a:buNone/>
            </a:pPr>
            <a:r>
              <a:rPr lang="en" sz="1800"/>
              <a:t>Animal Hierarchy:</a:t>
            </a:r>
            <a:endParaRPr sz="1800"/>
          </a:p>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Superclass: Animal</a:t>
            </a:r>
            <a:endParaRPr sz="1800"/>
          </a:p>
          <a:p>
            <a:pPr indent="-325755" lvl="0" marL="457200" rtl="0" algn="l">
              <a:spcBef>
                <a:spcPts val="0"/>
              </a:spcBef>
              <a:spcAft>
                <a:spcPts val="0"/>
              </a:spcAft>
              <a:buSzPct val="100000"/>
              <a:buChar char="●"/>
            </a:pPr>
            <a:r>
              <a:rPr lang="en" sz="1800"/>
              <a:t>Subclasses: Mammal, Reptile, Bird</a:t>
            </a:r>
            <a:endParaRPr sz="1800"/>
          </a:p>
          <a:p>
            <a:pPr indent="-325755" lvl="0" marL="457200" rtl="0" algn="l">
              <a:spcBef>
                <a:spcPts val="0"/>
              </a:spcBef>
              <a:spcAft>
                <a:spcPts val="0"/>
              </a:spcAft>
              <a:buSzPct val="100000"/>
              <a:buChar char="●"/>
            </a:pPr>
            <a:r>
              <a:rPr lang="en" sz="1800"/>
              <a:t>Further subclasses: Dog, Cat, Snake, Eagle</a:t>
            </a:r>
            <a:br>
              <a:rPr lang="en" sz="1800"/>
            </a:b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Vehicle Hierarchy:</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Superclass: Vehicle</a:t>
            </a:r>
            <a:endParaRPr sz="1800"/>
          </a:p>
          <a:p>
            <a:pPr indent="-325755" lvl="0" marL="457200" rtl="0" algn="l">
              <a:spcBef>
                <a:spcPts val="0"/>
              </a:spcBef>
              <a:spcAft>
                <a:spcPts val="0"/>
              </a:spcAft>
              <a:buSzPct val="100000"/>
              <a:buChar char="●"/>
            </a:pPr>
            <a:r>
              <a:rPr lang="en" sz="1800"/>
              <a:t>Subclasses: Car, Motorcycle, Truck</a:t>
            </a:r>
            <a:endParaRPr sz="1800"/>
          </a:p>
          <a:p>
            <a:pPr indent="-325755" lvl="0" marL="457200" rtl="0" algn="l">
              <a:spcBef>
                <a:spcPts val="0"/>
              </a:spcBef>
              <a:spcAft>
                <a:spcPts val="0"/>
              </a:spcAft>
              <a:buSzPct val="100000"/>
              <a:buChar char="●"/>
            </a:pPr>
            <a:r>
              <a:rPr lang="en" sz="1800"/>
              <a:t>Further subclasses: Sedan, SUV, SportsCar, Cruiser, PickupTruck</a:t>
            </a:r>
            <a:endParaRPr sz="1800"/>
          </a:p>
          <a:p>
            <a:pPr indent="0" lvl="0" marL="0" rtl="0" algn="l">
              <a:spcBef>
                <a:spcPts val="0"/>
              </a:spcBef>
              <a:spcAft>
                <a:spcPts val="0"/>
              </a:spcAft>
              <a:buNone/>
            </a:pPr>
            <a:r>
              <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3"/>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What is the structure of object-oriented programming?</a:t>
            </a:r>
            <a:endParaRPr sz="2900">
              <a:latin typeface="Montserrat"/>
              <a:ea typeface="Montserrat"/>
              <a:cs typeface="Montserrat"/>
              <a:sym typeface="Montserrat"/>
            </a:endParaRPr>
          </a:p>
        </p:txBody>
      </p:sp>
      <p:sp>
        <p:nvSpPr>
          <p:cNvPr id="196" name="Google Shape;196;p33"/>
          <p:cNvSpPr txBox="1"/>
          <p:nvPr>
            <p:ph idx="1" type="subTitle"/>
          </p:nvPr>
        </p:nvSpPr>
        <p:spPr>
          <a:xfrm>
            <a:off x="223625" y="1277675"/>
            <a:ext cx="8735700" cy="3642300"/>
          </a:xfrm>
          <a:prstGeom prst="rect">
            <a:avLst/>
          </a:prstGeom>
        </p:spPr>
        <p:txBody>
          <a:bodyPr anchorCtr="0" anchor="ctr" bIns="91425" lIns="91425" spcFirstLastPara="1" rIns="91425" wrap="square" tIns="91425">
            <a:normAutofit fontScale="40000" lnSpcReduction="20000"/>
          </a:bodyPr>
          <a:lstStyle/>
          <a:p>
            <a:pPr indent="0" lvl="0" marL="457200" rtl="0" algn="l">
              <a:spcBef>
                <a:spcPts val="0"/>
              </a:spcBef>
              <a:spcAft>
                <a:spcPts val="0"/>
              </a:spcAft>
              <a:buNone/>
            </a:pPr>
            <a:r>
              <a:t/>
            </a:r>
            <a:endParaRPr sz="1800"/>
          </a:p>
          <a:p>
            <a:pPr indent="0" lvl="0" marL="0" rtl="0" algn="l">
              <a:spcBef>
                <a:spcPts val="0"/>
              </a:spcBef>
              <a:spcAft>
                <a:spcPts val="0"/>
              </a:spcAft>
              <a:buNone/>
            </a:pPr>
            <a:r>
              <a:rPr lang="en" sz="3400"/>
              <a:t>The structure, or building blocks, of object-oriented programming include the following:</a:t>
            </a:r>
            <a:endParaRPr sz="3400"/>
          </a:p>
          <a:p>
            <a:pPr indent="0" lvl="0" marL="457200" rtl="0" algn="l">
              <a:spcBef>
                <a:spcPts val="0"/>
              </a:spcBef>
              <a:spcAft>
                <a:spcPts val="0"/>
              </a:spcAft>
              <a:buNone/>
            </a:pPr>
            <a:r>
              <a:t/>
            </a:r>
            <a:endParaRPr sz="3400"/>
          </a:p>
          <a:p>
            <a:pPr indent="-314960" lvl="0" marL="457200" rtl="0" algn="l">
              <a:spcBef>
                <a:spcPts val="0"/>
              </a:spcBef>
              <a:spcAft>
                <a:spcPts val="0"/>
              </a:spcAft>
              <a:buSzPct val="100000"/>
              <a:buChar char="●"/>
            </a:pPr>
            <a:r>
              <a:rPr lang="en" sz="3400"/>
              <a:t>Classes are user-defined data types that act as the blueprint for individual objects, attributes and methods.</a:t>
            </a:r>
            <a:endParaRPr sz="3400"/>
          </a:p>
          <a:p>
            <a:pPr indent="0" lvl="0" marL="457200" rtl="0" algn="l">
              <a:spcBef>
                <a:spcPts val="0"/>
              </a:spcBef>
              <a:spcAft>
                <a:spcPts val="0"/>
              </a:spcAft>
              <a:buNone/>
            </a:pPr>
            <a:r>
              <a:t/>
            </a:r>
            <a:endParaRPr sz="3400"/>
          </a:p>
          <a:p>
            <a:pPr indent="-314960" lvl="0" marL="457200" rtl="0" algn="l">
              <a:spcBef>
                <a:spcPts val="0"/>
              </a:spcBef>
              <a:spcAft>
                <a:spcPts val="0"/>
              </a:spcAft>
              <a:buSzPct val="100000"/>
              <a:buChar char="●"/>
            </a:pPr>
            <a:r>
              <a:rPr lang="en" sz="3400"/>
              <a:t>Objects are instances of a class created with specifically defined data. Objects can correspond to real-world objects or an abstract entity. When class is defined initially, the description is the only object that is defined.</a:t>
            </a:r>
            <a:endParaRPr sz="3400"/>
          </a:p>
          <a:p>
            <a:pPr indent="0" lvl="0" marL="457200" rtl="0" algn="l">
              <a:spcBef>
                <a:spcPts val="0"/>
              </a:spcBef>
              <a:spcAft>
                <a:spcPts val="0"/>
              </a:spcAft>
              <a:buNone/>
            </a:pPr>
            <a:r>
              <a:t/>
            </a:r>
            <a:endParaRPr sz="3400"/>
          </a:p>
          <a:p>
            <a:pPr indent="-314960" lvl="0" marL="457200" rtl="0" algn="l">
              <a:spcBef>
                <a:spcPts val="0"/>
              </a:spcBef>
              <a:spcAft>
                <a:spcPts val="0"/>
              </a:spcAft>
              <a:buSzPct val="100000"/>
              <a:buChar char="●"/>
            </a:pPr>
            <a:r>
              <a:rPr lang="en" sz="3400"/>
              <a:t>Methods are functions that are defined inside a class that describe the behaviors of an object. Each method contained in class definitions starts with a reference to an instance object. </a:t>
            </a:r>
            <a:br>
              <a:rPr lang="en" sz="3400"/>
            </a:br>
            <a:endParaRPr sz="3400"/>
          </a:p>
          <a:p>
            <a:pPr indent="-314960" lvl="0" marL="457200" rtl="0" algn="l">
              <a:spcBef>
                <a:spcPts val="0"/>
              </a:spcBef>
              <a:spcAft>
                <a:spcPts val="0"/>
              </a:spcAft>
              <a:buSzPct val="100000"/>
              <a:buChar char="●"/>
            </a:pPr>
            <a:r>
              <a:rPr lang="en" sz="3400"/>
              <a:t>Additionally, the subroutines contained in an object are called instance methods. Programmers use methods for reusability or keeping functionality encapsulated inside one object at a time.</a:t>
            </a:r>
            <a:endParaRPr sz="3400"/>
          </a:p>
          <a:p>
            <a:pPr indent="0" lvl="0" marL="457200" rtl="0" algn="l">
              <a:spcBef>
                <a:spcPts val="0"/>
              </a:spcBef>
              <a:spcAft>
                <a:spcPts val="0"/>
              </a:spcAft>
              <a:buNone/>
            </a:pPr>
            <a:r>
              <a:t/>
            </a:r>
            <a:endParaRPr sz="3400"/>
          </a:p>
          <a:p>
            <a:pPr indent="-314960" lvl="0" marL="457200" rtl="0" algn="l">
              <a:spcBef>
                <a:spcPts val="0"/>
              </a:spcBef>
              <a:spcAft>
                <a:spcPts val="0"/>
              </a:spcAft>
              <a:buSzPct val="100000"/>
              <a:buChar char="●"/>
            </a:pPr>
            <a:r>
              <a:rPr lang="en" sz="3400"/>
              <a:t>Attributes are defined in the class template and represent the state of an object. Objects will have data stored in the attributes field. Class attributes belong to the class itself.</a:t>
            </a:r>
            <a:endParaRPr sz="3400"/>
          </a:p>
          <a:p>
            <a:pPr indent="0" lvl="0" marL="457200" rtl="0" algn="l">
              <a:spcBef>
                <a:spcPts val="0"/>
              </a:spcBef>
              <a:spcAft>
                <a:spcPts val="0"/>
              </a:spcAft>
              <a:buNone/>
            </a:pPr>
            <a:r>
              <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What is the structure of object-oriented programming?</a:t>
            </a:r>
            <a:endParaRPr sz="2900">
              <a:latin typeface="Montserrat"/>
              <a:ea typeface="Montserrat"/>
              <a:cs typeface="Montserrat"/>
              <a:sym typeface="Montserrat"/>
            </a:endParaRPr>
          </a:p>
        </p:txBody>
      </p:sp>
      <p:sp>
        <p:nvSpPr>
          <p:cNvPr id="202" name="Google Shape;202;p34"/>
          <p:cNvSpPr txBox="1"/>
          <p:nvPr>
            <p:ph idx="1" type="subTitle"/>
          </p:nvPr>
        </p:nvSpPr>
        <p:spPr>
          <a:xfrm>
            <a:off x="223625" y="1277675"/>
            <a:ext cx="8735700" cy="3795900"/>
          </a:xfrm>
          <a:prstGeom prst="rect">
            <a:avLst/>
          </a:prstGeom>
        </p:spPr>
        <p:txBody>
          <a:bodyPr anchorCtr="0" anchor="ctr" bIns="91425" lIns="91425" spcFirstLastPara="1" rIns="91425" wrap="square" tIns="91425">
            <a:normAutofit/>
          </a:bodyPr>
          <a:lstStyle/>
          <a:p>
            <a:pPr indent="0" lvl="0" marL="457200" rtl="0" algn="l">
              <a:spcBef>
                <a:spcPts val="0"/>
              </a:spcBef>
              <a:spcAft>
                <a:spcPts val="0"/>
              </a:spcAft>
              <a:buNone/>
            </a:pPr>
            <a:r>
              <a:t/>
            </a:r>
            <a:endParaRPr sz="1800"/>
          </a:p>
          <a:p>
            <a:pPr indent="0" lvl="0" marL="0" rtl="0" algn="l">
              <a:spcBef>
                <a:spcPts val="0"/>
              </a:spcBef>
              <a:spcAft>
                <a:spcPts val="0"/>
              </a:spcAft>
              <a:buNone/>
            </a:pPr>
            <a:r>
              <a:t/>
            </a:r>
            <a:endParaRPr sz="1800"/>
          </a:p>
        </p:txBody>
      </p:sp>
      <p:pic>
        <p:nvPicPr>
          <p:cNvPr id="203" name="Google Shape;203;p34"/>
          <p:cNvPicPr preferRelativeResize="0"/>
          <p:nvPr/>
        </p:nvPicPr>
        <p:blipFill rotWithShape="1">
          <a:blip r:embed="rId3">
            <a:alphaModFix/>
          </a:blip>
          <a:srcRect b="0" l="0" r="1652" t="0"/>
          <a:stretch/>
        </p:blipFill>
        <p:spPr>
          <a:xfrm>
            <a:off x="374700" y="1416400"/>
            <a:ext cx="3482925" cy="3364850"/>
          </a:xfrm>
          <a:prstGeom prst="rect">
            <a:avLst/>
          </a:prstGeom>
          <a:noFill/>
          <a:ln>
            <a:noFill/>
          </a:ln>
        </p:spPr>
      </p:pic>
      <p:pic>
        <p:nvPicPr>
          <p:cNvPr id="204" name="Google Shape;204;p34"/>
          <p:cNvPicPr preferRelativeResize="0"/>
          <p:nvPr/>
        </p:nvPicPr>
        <p:blipFill>
          <a:blip r:embed="rId4">
            <a:alphaModFix/>
          </a:blip>
          <a:stretch>
            <a:fillRect/>
          </a:stretch>
        </p:blipFill>
        <p:spPr>
          <a:xfrm>
            <a:off x="4129900" y="1450350"/>
            <a:ext cx="4678100" cy="32969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What are examples of object-oriented programming languages?</a:t>
            </a:r>
            <a:endParaRPr sz="2900">
              <a:latin typeface="Montserrat"/>
              <a:ea typeface="Montserrat"/>
              <a:cs typeface="Montserrat"/>
              <a:sym typeface="Montserrat"/>
            </a:endParaRPr>
          </a:p>
        </p:txBody>
      </p:sp>
      <p:sp>
        <p:nvSpPr>
          <p:cNvPr id="210" name="Google Shape;210;p35"/>
          <p:cNvSpPr txBox="1"/>
          <p:nvPr>
            <p:ph idx="1" type="subTitle"/>
          </p:nvPr>
        </p:nvSpPr>
        <p:spPr>
          <a:xfrm>
            <a:off x="223625" y="1277675"/>
            <a:ext cx="8735700" cy="36423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1800"/>
              <a:t>Programming languages designed primarily for OOP include:</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C#</a:t>
            </a:r>
            <a:endParaRPr sz="1800"/>
          </a:p>
          <a:p>
            <a:pPr indent="-342900" lvl="0" marL="457200" rtl="0" algn="l">
              <a:spcBef>
                <a:spcPts val="0"/>
              </a:spcBef>
              <a:spcAft>
                <a:spcPts val="0"/>
              </a:spcAft>
              <a:buSzPts val="1800"/>
              <a:buChar char="●"/>
            </a:pPr>
            <a:r>
              <a:rPr lang="en" sz="1800"/>
              <a:t>Java</a:t>
            </a:r>
            <a:endParaRPr sz="1800"/>
          </a:p>
          <a:p>
            <a:pPr indent="-342900" lvl="0" marL="457200" rtl="0" algn="l">
              <a:spcBef>
                <a:spcPts val="0"/>
              </a:spcBef>
              <a:spcAft>
                <a:spcPts val="0"/>
              </a:spcAft>
              <a:buSzPts val="1800"/>
              <a:buChar char="●"/>
            </a:pPr>
            <a:r>
              <a:rPr lang="en" sz="1800"/>
              <a:t>Python</a:t>
            </a:r>
            <a:endParaRPr sz="1800"/>
          </a:p>
          <a:p>
            <a:pPr indent="-342900" lvl="0" marL="457200" rtl="0" algn="l">
              <a:spcBef>
                <a:spcPts val="0"/>
              </a:spcBef>
              <a:spcAft>
                <a:spcPts val="0"/>
              </a:spcAft>
              <a:buSzPts val="1800"/>
              <a:buChar char="●"/>
            </a:pPr>
            <a:r>
              <a:rPr lang="en" sz="1800"/>
              <a:t>C++</a:t>
            </a:r>
            <a:endParaRPr sz="1800"/>
          </a:p>
          <a:p>
            <a:pPr indent="-342900" lvl="0" marL="457200" rtl="0" algn="l">
              <a:spcBef>
                <a:spcPts val="0"/>
              </a:spcBef>
              <a:spcAft>
                <a:spcPts val="0"/>
              </a:spcAft>
              <a:buSzPts val="1800"/>
              <a:buChar char="●"/>
            </a:pPr>
            <a:r>
              <a:rPr lang="en" sz="1800"/>
              <a:t>TypeScript</a:t>
            </a:r>
            <a:endParaRPr sz="1800"/>
          </a:p>
          <a:p>
            <a:pPr indent="-342900" lvl="0" marL="457200" rtl="0" algn="l">
              <a:spcBef>
                <a:spcPts val="0"/>
              </a:spcBef>
              <a:spcAft>
                <a:spcPts val="0"/>
              </a:spcAft>
              <a:buSzPts val="1800"/>
              <a:buChar char="●"/>
            </a:pPr>
            <a:r>
              <a:rPr lang="en" sz="1800"/>
              <a:t>Ruby</a:t>
            </a:r>
            <a:endParaRPr sz="1800"/>
          </a:p>
          <a:p>
            <a:pPr indent="0" lvl="0" marL="0" rtl="0" algn="l">
              <a:spcBef>
                <a:spcPts val="0"/>
              </a:spcBef>
              <a:spcAft>
                <a:spcPts val="0"/>
              </a:spcAft>
              <a:buNone/>
            </a:pPr>
            <a:br>
              <a:rPr lang="en" sz="1800"/>
            </a:br>
            <a:br>
              <a:rPr lang="en" sz="1800"/>
            </a:br>
            <a:br>
              <a:rPr lang="en" sz="1800"/>
            </a:br>
            <a:br>
              <a:rPr lang="en" sz="1800"/>
            </a:b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 Abstraction P1</a:t>
            </a:r>
            <a:endParaRPr sz="2900">
              <a:latin typeface="Montserrat"/>
              <a:ea typeface="Montserrat"/>
              <a:cs typeface="Montserrat"/>
              <a:sym typeface="Montserrat"/>
            </a:endParaRPr>
          </a:p>
        </p:txBody>
      </p:sp>
      <p:sp>
        <p:nvSpPr>
          <p:cNvPr id="216" name="Google Shape;216;p36"/>
          <p:cNvSpPr txBox="1"/>
          <p:nvPr>
            <p:ph idx="1" type="subTitle"/>
          </p:nvPr>
        </p:nvSpPr>
        <p:spPr>
          <a:xfrm>
            <a:off x="223625" y="1277675"/>
            <a:ext cx="8735700" cy="3642300"/>
          </a:xfrm>
          <a:prstGeom prst="rect">
            <a:avLst/>
          </a:prstGeom>
        </p:spPr>
        <p:txBody>
          <a:bodyPr anchorCtr="0" anchor="ctr" bIns="91425" lIns="91425" spcFirstLastPara="1" rIns="91425" wrap="square" tIns="91425">
            <a:normAutofit lnSpcReduction="20000"/>
          </a:bodyPr>
          <a:lstStyle/>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Data abstraction is the process of hiding certain details and showing only essential information to the user.</a:t>
            </a:r>
            <a:br>
              <a:rPr lang="en" sz="1800"/>
            </a:br>
            <a:endParaRPr sz="1800"/>
          </a:p>
          <a:p>
            <a:pPr indent="-342900" lvl="0" marL="457200" rtl="0" algn="l">
              <a:spcBef>
                <a:spcPts val="0"/>
              </a:spcBef>
              <a:spcAft>
                <a:spcPts val="0"/>
              </a:spcAft>
              <a:buSzPts val="1800"/>
              <a:buChar char="●"/>
            </a:pPr>
            <a:r>
              <a:rPr lang="en" sz="1800"/>
              <a:t>Abstraction can be achieved with either abstract classes or interfaces (which you will learn more about in the next chapter).</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The abstract keyword is used for classes and methods:</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Abstract class: is a restricted class that cannot be used to create objects (to access it, it must be inherited from another class).</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Abstract method: can only be used in an abstract class, and it does not have a body. The body is provided by the derived class (inherited from).</a:t>
            </a: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7"/>
          <p:cNvSpPr txBox="1"/>
          <p:nvPr>
            <p:ph type="ctrTitle"/>
          </p:nvPr>
        </p:nvSpPr>
        <p:spPr>
          <a:xfrm>
            <a:off x="97925" y="223625"/>
            <a:ext cx="8952000" cy="6918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 </a:t>
            </a:r>
            <a:r>
              <a:rPr lang="en" sz="2900">
                <a:latin typeface="Montserrat"/>
                <a:ea typeface="Montserrat"/>
                <a:cs typeface="Montserrat"/>
                <a:sym typeface="Montserrat"/>
              </a:rPr>
              <a:t>Abstraction </a:t>
            </a:r>
            <a:r>
              <a:rPr lang="en" sz="2900">
                <a:latin typeface="Montserrat"/>
                <a:ea typeface="Montserrat"/>
                <a:cs typeface="Montserrat"/>
                <a:sym typeface="Montserrat"/>
              </a:rPr>
              <a:t>P2</a:t>
            </a:r>
            <a:endParaRPr sz="2900">
              <a:latin typeface="Montserrat"/>
              <a:ea typeface="Montserrat"/>
              <a:cs typeface="Montserrat"/>
              <a:sym typeface="Montserrat"/>
            </a:endParaRPr>
          </a:p>
        </p:txBody>
      </p:sp>
      <p:sp>
        <p:nvSpPr>
          <p:cNvPr id="222" name="Google Shape;222;p37"/>
          <p:cNvSpPr txBox="1"/>
          <p:nvPr>
            <p:ph idx="1" type="subTitle"/>
          </p:nvPr>
        </p:nvSpPr>
        <p:spPr>
          <a:xfrm>
            <a:off x="97850" y="915425"/>
            <a:ext cx="8952000" cy="4067400"/>
          </a:xfrm>
          <a:prstGeom prst="rect">
            <a:avLst/>
          </a:prstGeom>
        </p:spPr>
        <p:txBody>
          <a:bodyPr anchorCtr="0" anchor="ctr" bIns="91425" lIns="91425" spcFirstLastPara="1" rIns="91425" wrap="square" tIns="91425">
            <a:normAutofit/>
          </a:bodyPr>
          <a:lstStyle/>
          <a:p>
            <a:pPr indent="-342900" lvl="0" marL="4572000" rtl="0" algn="l">
              <a:spcBef>
                <a:spcPts val="0"/>
              </a:spcBef>
              <a:spcAft>
                <a:spcPts val="0"/>
              </a:spcAft>
              <a:buSzPts val="1800"/>
              <a:buChar char="●"/>
            </a:pPr>
            <a:r>
              <a:rPr lang="en" sz="1800"/>
              <a:t>Abstraction is an extension of encapsulation that uses classes and objects, which contain data and code, to hide the internal details of a program from its users.</a:t>
            </a:r>
            <a:br>
              <a:rPr lang="en" sz="1800"/>
            </a:br>
            <a:endParaRPr sz="1800"/>
          </a:p>
          <a:p>
            <a:pPr indent="-342900" lvl="0" marL="4572000" rtl="0" algn="l">
              <a:spcBef>
                <a:spcPts val="0"/>
              </a:spcBef>
              <a:spcAft>
                <a:spcPts val="0"/>
              </a:spcAft>
              <a:buSzPts val="1800"/>
              <a:buChar char="●"/>
            </a:pPr>
            <a:r>
              <a:rPr lang="en" sz="1800"/>
              <a:t>This is done by creating a layer of abstraction between the user and the more complex source code, which helps protect sensitive information stored within the source code.</a:t>
            </a:r>
            <a:endParaRPr sz="1800"/>
          </a:p>
          <a:p>
            <a:pPr indent="0" lvl="0" marL="5486400" rtl="0" algn="l">
              <a:spcBef>
                <a:spcPts val="0"/>
              </a:spcBef>
              <a:spcAft>
                <a:spcPts val="0"/>
              </a:spcAft>
              <a:buNone/>
            </a:pPr>
            <a:r>
              <a:t/>
            </a:r>
            <a:endParaRPr sz="1800"/>
          </a:p>
        </p:txBody>
      </p:sp>
      <p:pic>
        <p:nvPicPr>
          <p:cNvPr id="223" name="Google Shape;223;p37"/>
          <p:cNvPicPr preferRelativeResize="0"/>
          <p:nvPr/>
        </p:nvPicPr>
        <p:blipFill>
          <a:blip r:embed="rId3">
            <a:alphaModFix/>
          </a:blip>
          <a:stretch>
            <a:fillRect/>
          </a:stretch>
        </p:blipFill>
        <p:spPr>
          <a:xfrm>
            <a:off x="223625" y="1362725"/>
            <a:ext cx="3872725" cy="2732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8"/>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 Abstraction P3</a:t>
            </a:r>
            <a:endParaRPr sz="2900">
              <a:latin typeface="Montserrat"/>
              <a:ea typeface="Montserrat"/>
              <a:cs typeface="Montserrat"/>
              <a:sym typeface="Montserrat"/>
            </a:endParaRPr>
          </a:p>
        </p:txBody>
      </p:sp>
      <p:sp>
        <p:nvSpPr>
          <p:cNvPr id="229" name="Google Shape;229;p38"/>
          <p:cNvSpPr txBox="1"/>
          <p:nvPr>
            <p:ph idx="1" type="subTitle"/>
          </p:nvPr>
        </p:nvSpPr>
        <p:spPr>
          <a:xfrm>
            <a:off x="223625" y="1277675"/>
            <a:ext cx="8735700" cy="3642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800"/>
              <a:t>Abstraction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Reduces complexity and improves code readability</a:t>
            </a:r>
            <a:endParaRPr sz="1800"/>
          </a:p>
          <a:p>
            <a:pPr indent="-342900" lvl="0" marL="457200" rtl="0" algn="l">
              <a:spcBef>
                <a:spcPts val="0"/>
              </a:spcBef>
              <a:spcAft>
                <a:spcPts val="0"/>
              </a:spcAft>
              <a:buSzPts val="1800"/>
              <a:buChar char="●"/>
            </a:pPr>
            <a:r>
              <a:rPr lang="en" sz="1800"/>
              <a:t>Facilitates code reuse and organization</a:t>
            </a:r>
            <a:endParaRPr sz="1800"/>
          </a:p>
          <a:p>
            <a:pPr indent="-342900" lvl="0" marL="457200" rtl="0" algn="l">
              <a:spcBef>
                <a:spcPts val="0"/>
              </a:spcBef>
              <a:spcAft>
                <a:spcPts val="0"/>
              </a:spcAft>
              <a:buSzPts val="1800"/>
              <a:buChar char="●"/>
            </a:pPr>
            <a:r>
              <a:rPr lang="en" sz="1800"/>
              <a:t>Data hiding improves data security by hiding sensitive details from users</a:t>
            </a:r>
            <a:endParaRPr sz="1800"/>
          </a:p>
          <a:p>
            <a:pPr indent="-342900" lvl="0" marL="457200" rtl="0" algn="l">
              <a:spcBef>
                <a:spcPts val="0"/>
              </a:spcBef>
              <a:spcAft>
                <a:spcPts val="0"/>
              </a:spcAft>
              <a:buSzPts val="1800"/>
              <a:buChar char="●"/>
            </a:pPr>
            <a:r>
              <a:rPr lang="en" sz="1800"/>
              <a:t>Enhances productivity by abstracting away low-level details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9"/>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 Abstraction P4</a:t>
            </a:r>
            <a:endParaRPr sz="2900">
              <a:latin typeface="Montserrat"/>
              <a:ea typeface="Montserrat"/>
              <a:cs typeface="Montserrat"/>
              <a:sym typeface="Montserrat"/>
            </a:endParaRPr>
          </a:p>
        </p:txBody>
      </p:sp>
      <p:sp>
        <p:nvSpPr>
          <p:cNvPr id="235" name="Google Shape;235;p39"/>
          <p:cNvSpPr txBox="1"/>
          <p:nvPr>
            <p:ph idx="1" type="subTitle"/>
          </p:nvPr>
        </p:nvSpPr>
        <p:spPr>
          <a:xfrm>
            <a:off x="223625" y="1277675"/>
            <a:ext cx="8735700" cy="3642300"/>
          </a:xfrm>
          <a:prstGeom prst="rect">
            <a:avLst/>
          </a:prstGeom>
        </p:spPr>
        <p:txBody>
          <a:bodyPr anchorCtr="0" anchor="ctr" bIns="91425" lIns="91425" spcFirstLastPara="1" rIns="91425" wrap="square" tIns="91425">
            <a:normAutofit fontScale="62500" lnSpcReduction="20000"/>
          </a:bodyPr>
          <a:lstStyle/>
          <a:p>
            <a:pPr indent="0" lvl="0" marL="457200" rtl="0" algn="l">
              <a:spcBef>
                <a:spcPts val="0"/>
              </a:spcBef>
              <a:spcAft>
                <a:spcPts val="0"/>
              </a:spcAft>
              <a:buNone/>
            </a:pPr>
            <a:r>
              <a:t/>
            </a:r>
            <a:endParaRPr/>
          </a:p>
          <a:p>
            <a:pPr indent="-323850" lvl="0" marL="457200" rtl="0" algn="l">
              <a:spcBef>
                <a:spcPts val="0"/>
              </a:spcBef>
              <a:spcAft>
                <a:spcPts val="0"/>
              </a:spcAft>
              <a:buSzPct val="100000"/>
              <a:buChar char="●"/>
            </a:pPr>
            <a:r>
              <a:rPr lang="en"/>
              <a:t>Abstraction can also be explained using cars. Think of how a driver operates a vehicle using only the car’s dashboard.</a:t>
            </a:r>
            <a:endParaRPr/>
          </a:p>
          <a:p>
            <a:pPr indent="0" lvl="0" marL="457200" rtl="0" algn="l">
              <a:spcBef>
                <a:spcPts val="0"/>
              </a:spcBef>
              <a:spcAft>
                <a:spcPts val="0"/>
              </a:spcAft>
              <a:buNone/>
            </a:pPr>
            <a:r>
              <a:t/>
            </a:r>
            <a:endParaRPr/>
          </a:p>
          <a:p>
            <a:pPr indent="-323850" lvl="0" marL="457200" rtl="0" algn="l">
              <a:spcBef>
                <a:spcPts val="0"/>
              </a:spcBef>
              <a:spcAft>
                <a:spcPts val="0"/>
              </a:spcAft>
              <a:buSzPct val="100000"/>
              <a:buChar char="●"/>
            </a:pPr>
            <a:r>
              <a:rPr lang="en"/>
              <a:t>A driver uses the car’s steering wheel, accelerator, and brake pedals to control the vehicle. </a:t>
            </a:r>
            <a:endParaRPr/>
          </a:p>
          <a:p>
            <a:pPr indent="0" lvl="0" marL="457200" rtl="0" algn="l">
              <a:spcBef>
                <a:spcPts val="0"/>
              </a:spcBef>
              <a:spcAft>
                <a:spcPts val="0"/>
              </a:spcAft>
              <a:buNone/>
            </a:pPr>
            <a:r>
              <a:t/>
            </a:r>
            <a:endParaRPr/>
          </a:p>
          <a:p>
            <a:pPr indent="-323850" lvl="0" marL="457200" rtl="0" algn="l">
              <a:spcBef>
                <a:spcPts val="0"/>
              </a:spcBef>
              <a:spcAft>
                <a:spcPts val="0"/>
              </a:spcAft>
              <a:buSzPct val="100000"/>
              <a:buChar char="●"/>
            </a:pPr>
            <a:r>
              <a:rPr lang="en"/>
              <a:t>The driver does not have to worry about how the engine works or what parts are used for each movement. This is an abstraction – only the important aspects necessary for a driver to use the car are visible.</a:t>
            </a:r>
            <a:endParaRPr/>
          </a:p>
          <a:p>
            <a:pPr indent="0" lvl="0" marL="457200" rtl="0" algn="l">
              <a:spcBef>
                <a:spcPts val="0"/>
              </a:spcBef>
              <a:spcAft>
                <a:spcPts val="0"/>
              </a:spcAft>
              <a:buNone/>
            </a:pPr>
            <a:r>
              <a:t/>
            </a:r>
            <a:endParaRPr/>
          </a:p>
          <a:p>
            <a:pPr indent="-323850" lvl="0" marL="457200" rtl="0" algn="l">
              <a:spcBef>
                <a:spcPts val="0"/>
              </a:spcBef>
              <a:spcAft>
                <a:spcPts val="0"/>
              </a:spcAft>
              <a:buSzPct val="100000"/>
              <a:buChar char="●"/>
            </a:pPr>
            <a:r>
              <a:rPr lang="en"/>
              <a:t>Similarly, data abstraction allows developers to work with complex information without worrying about its inner workings. </a:t>
            </a:r>
            <a:endParaRPr/>
          </a:p>
          <a:p>
            <a:pPr indent="0" lvl="0" marL="457200" rtl="0" algn="l">
              <a:spcBef>
                <a:spcPts val="0"/>
              </a:spcBef>
              <a:spcAft>
                <a:spcPts val="0"/>
              </a:spcAft>
              <a:buNone/>
            </a:pPr>
            <a:r>
              <a:t/>
            </a:r>
            <a:endParaRPr/>
          </a:p>
          <a:p>
            <a:pPr indent="-323850" lvl="0" marL="457200" rtl="0" algn="l">
              <a:spcBef>
                <a:spcPts val="0"/>
              </a:spcBef>
              <a:spcAft>
                <a:spcPts val="0"/>
              </a:spcAft>
              <a:buSzPct val="100000"/>
              <a:buChar char="●"/>
            </a:pPr>
            <a:r>
              <a:rPr lang="en"/>
              <a:t>In this way, it helps to improve code quality and readability.</a:t>
            </a:r>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0"/>
          <p:cNvSpPr txBox="1"/>
          <p:nvPr>
            <p:ph type="ctrTitle"/>
          </p:nvPr>
        </p:nvSpPr>
        <p:spPr>
          <a:xfrm>
            <a:off x="90825" y="45925"/>
            <a:ext cx="8924700" cy="6885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 Abstraction P4</a:t>
            </a:r>
            <a:endParaRPr sz="2900">
              <a:latin typeface="Montserrat"/>
              <a:ea typeface="Montserrat"/>
              <a:cs typeface="Montserrat"/>
              <a:sym typeface="Montserrat"/>
            </a:endParaRPr>
          </a:p>
        </p:txBody>
      </p:sp>
      <p:sp>
        <p:nvSpPr>
          <p:cNvPr id="241" name="Google Shape;241;p40"/>
          <p:cNvSpPr txBox="1"/>
          <p:nvPr>
            <p:ph idx="1" type="subTitle"/>
          </p:nvPr>
        </p:nvSpPr>
        <p:spPr>
          <a:xfrm>
            <a:off x="90825" y="734425"/>
            <a:ext cx="8924700" cy="4353900"/>
          </a:xfrm>
          <a:prstGeom prst="rect">
            <a:avLst/>
          </a:prstGeom>
        </p:spPr>
        <p:txBody>
          <a:bodyPr anchorCtr="0" anchor="ctr" bIns="91425" lIns="91425" spcFirstLastPara="1" rIns="91425" wrap="square" tIns="91425">
            <a:normAutofit/>
          </a:bodyPr>
          <a:lstStyle/>
          <a:p>
            <a:pPr indent="0" lvl="0" marL="457200" rtl="0" algn="l">
              <a:spcBef>
                <a:spcPts val="0"/>
              </a:spcBef>
              <a:spcAft>
                <a:spcPts val="0"/>
              </a:spcAft>
              <a:buNone/>
            </a:pPr>
            <a:r>
              <a:t/>
            </a:r>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pic>
        <p:nvPicPr>
          <p:cNvPr id="242" name="Google Shape;242;p40"/>
          <p:cNvPicPr preferRelativeResize="0"/>
          <p:nvPr/>
        </p:nvPicPr>
        <p:blipFill>
          <a:blip r:embed="rId3">
            <a:alphaModFix/>
          </a:blip>
          <a:stretch>
            <a:fillRect/>
          </a:stretch>
        </p:blipFill>
        <p:spPr>
          <a:xfrm>
            <a:off x="90825" y="734422"/>
            <a:ext cx="2867425" cy="1035450"/>
          </a:xfrm>
          <a:prstGeom prst="rect">
            <a:avLst/>
          </a:prstGeom>
          <a:noFill/>
          <a:ln>
            <a:noFill/>
          </a:ln>
        </p:spPr>
      </p:pic>
      <p:pic>
        <p:nvPicPr>
          <p:cNvPr id="243" name="Google Shape;243;p40"/>
          <p:cNvPicPr preferRelativeResize="0"/>
          <p:nvPr/>
        </p:nvPicPr>
        <p:blipFill>
          <a:blip r:embed="rId4">
            <a:alphaModFix/>
          </a:blip>
          <a:stretch>
            <a:fillRect/>
          </a:stretch>
        </p:blipFill>
        <p:spPr>
          <a:xfrm>
            <a:off x="90825" y="1927850"/>
            <a:ext cx="3217100" cy="3068050"/>
          </a:xfrm>
          <a:prstGeom prst="rect">
            <a:avLst/>
          </a:prstGeom>
          <a:noFill/>
          <a:ln>
            <a:noFill/>
          </a:ln>
        </p:spPr>
      </p:pic>
      <p:pic>
        <p:nvPicPr>
          <p:cNvPr id="244" name="Google Shape;244;p40"/>
          <p:cNvPicPr preferRelativeResize="0"/>
          <p:nvPr/>
        </p:nvPicPr>
        <p:blipFill>
          <a:blip r:embed="rId5">
            <a:alphaModFix/>
          </a:blip>
          <a:stretch>
            <a:fillRect/>
          </a:stretch>
        </p:blipFill>
        <p:spPr>
          <a:xfrm>
            <a:off x="2830025" y="734425"/>
            <a:ext cx="3806249" cy="3479249"/>
          </a:xfrm>
          <a:prstGeom prst="rect">
            <a:avLst/>
          </a:prstGeom>
          <a:noFill/>
          <a:ln>
            <a:noFill/>
          </a:ln>
        </p:spPr>
      </p:pic>
      <p:pic>
        <p:nvPicPr>
          <p:cNvPr id="245" name="Google Shape;245;p40"/>
          <p:cNvPicPr preferRelativeResize="0"/>
          <p:nvPr/>
        </p:nvPicPr>
        <p:blipFill>
          <a:blip r:embed="rId6">
            <a:alphaModFix/>
          </a:blip>
          <a:stretch>
            <a:fillRect/>
          </a:stretch>
        </p:blipFill>
        <p:spPr>
          <a:xfrm>
            <a:off x="5798450" y="842875"/>
            <a:ext cx="3217100" cy="2528989"/>
          </a:xfrm>
          <a:prstGeom prst="rect">
            <a:avLst/>
          </a:prstGeom>
          <a:noFill/>
          <a:ln>
            <a:noFill/>
          </a:ln>
        </p:spPr>
      </p:pic>
      <p:sp>
        <p:nvSpPr>
          <p:cNvPr id="246" name="Google Shape;246;p40"/>
          <p:cNvSpPr txBox="1"/>
          <p:nvPr/>
        </p:nvSpPr>
        <p:spPr>
          <a:xfrm>
            <a:off x="1537450" y="786975"/>
            <a:ext cx="4542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(1)</a:t>
            </a:r>
            <a:endParaRPr sz="1800">
              <a:solidFill>
                <a:schemeClr val="lt1"/>
              </a:solidFill>
              <a:latin typeface="Playfair Display"/>
              <a:ea typeface="Playfair Display"/>
              <a:cs typeface="Playfair Display"/>
              <a:sym typeface="Playfair Display"/>
            </a:endParaRPr>
          </a:p>
        </p:txBody>
      </p:sp>
      <p:sp>
        <p:nvSpPr>
          <p:cNvPr id="247" name="Google Shape;247;p40"/>
          <p:cNvSpPr txBox="1"/>
          <p:nvPr/>
        </p:nvSpPr>
        <p:spPr>
          <a:xfrm>
            <a:off x="1368375" y="1943125"/>
            <a:ext cx="4542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(2)</a:t>
            </a:r>
            <a:endParaRPr sz="1800">
              <a:solidFill>
                <a:schemeClr val="lt1"/>
              </a:solidFill>
              <a:latin typeface="Playfair Display"/>
              <a:ea typeface="Playfair Display"/>
              <a:cs typeface="Playfair Display"/>
              <a:sym typeface="Playfair Display"/>
            </a:endParaRPr>
          </a:p>
        </p:txBody>
      </p:sp>
      <p:sp>
        <p:nvSpPr>
          <p:cNvPr id="248" name="Google Shape;248;p40"/>
          <p:cNvSpPr txBox="1"/>
          <p:nvPr/>
        </p:nvSpPr>
        <p:spPr>
          <a:xfrm>
            <a:off x="4539800" y="671525"/>
            <a:ext cx="4542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(3)</a:t>
            </a:r>
            <a:endParaRPr sz="1800">
              <a:solidFill>
                <a:schemeClr val="lt1"/>
              </a:solidFill>
              <a:latin typeface="Playfair Display"/>
              <a:ea typeface="Playfair Display"/>
              <a:cs typeface="Playfair Display"/>
              <a:sym typeface="Playfair Display"/>
            </a:endParaRPr>
          </a:p>
        </p:txBody>
      </p:sp>
      <p:sp>
        <p:nvSpPr>
          <p:cNvPr id="249" name="Google Shape;249;p40"/>
          <p:cNvSpPr txBox="1"/>
          <p:nvPr/>
        </p:nvSpPr>
        <p:spPr>
          <a:xfrm>
            <a:off x="7263950" y="842875"/>
            <a:ext cx="4542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(4)</a:t>
            </a:r>
            <a:endParaRPr sz="1800">
              <a:solidFill>
                <a:schemeClr val="lt1"/>
              </a:solidFill>
              <a:latin typeface="Playfair Display"/>
              <a:ea typeface="Playfair Display"/>
              <a:cs typeface="Playfair Display"/>
              <a:sym typeface="Playfair Display"/>
            </a:endParaRPr>
          </a:p>
        </p:txBody>
      </p:sp>
      <p:sp>
        <p:nvSpPr>
          <p:cNvPr id="250" name="Google Shape;250;p40"/>
          <p:cNvSpPr txBox="1"/>
          <p:nvPr/>
        </p:nvSpPr>
        <p:spPr>
          <a:xfrm>
            <a:off x="3955475" y="4130100"/>
            <a:ext cx="5003700" cy="86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Clr>
                <a:schemeClr val="dk2"/>
              </a:buClr>
              <a:buSzPts val="1100"/>
              <a:buFont typeface="Arial"/>
              <a:buNone/>
            </a:pPr>
            <a:r>
              <a:rPr lang="en" sz="900">
                <a:solidFill>
                  <a:schemeClr val="lt1"/>
                </a:solidFill>
                <a:latin typeface="Roboto"/>
                <a:ea typeface="Roboto"/>
                <a:cs typeface="Roboto"/>
                <a:sym typeface="Roboto"/>
              </a:rPr>
              <a:t>Explanation: </a:t>
            </a:r>
            <a:br>
              <a:rPr lang="en" sz="900">
                <a:solidFill>
                  <a:schemeClr val="lt1"/>
                </a:solidFill>
                <a:latin typeface="Roboto"/>
                <a:ea typeface="Roboto"/>
                <a:cs typeface="Roboto"/>
                <a:sym typeface="Roboto"/>
              </a:rPr>
            </a:br>
            <a:r>
              <a:rPr lang="en" sz="700">
                <a:solidFill>
                  <a:schemeClr val="lt1"/>
                </a:solidFill>
                <a:latin typeface="Roboto"/>
                <a:ea typeface="Roboto"/>
                <a:cs typeface="Roboto"/>
                <a:sym typeface="Roboto"/>
              </a:rPr>
              <a:t>The </a:t>
            </a:r>
            <a:r>
              <a:rPr lang="en" sz="700">
                <a:solidFill>
                  <a:schemeClr val="lt1"/>
                </a:solidFill>
                <a:latin typeface="Courier New"/>
                <a:ea typeface="Courier New"/>
                <a:cs typeface="Courier New"/>
                <a:sym typeface="Courier New"/>
              </a:rPr>
              <a:t>DisplayShapeInfo</a:t>
            </a:r>
            <a:r>
              <a:rPr lang="en" sz="700">
                <a:solidFill>
                  <a:schemeClr val="lt1"/>
                </a:solidFill>
                <a:latin typeface="Roboto"/>
                <a:ea typeface="Roboto"/>
                <a:cs typeface="Roboto"/>
                <a:sym typeface="Roboto"/>
              </a:rPr>
              <a:t> method demonstrates abstraction by accepting any shape (whether it's a circle or rectangle) and utilizing the abstract methods without knowing the specific details of each </a:t>
            </a:r>
            <a:r>
              <a:rPr lang="en" sz="700">
                <a:solidFill>
                  <a:schemeClr val="lt1"/>
                </a:solidFill>
                <a:latin typeface="Roboto"/>
                <a:ea typeface="Roboto"/>
                <a:cs typeface="Roboto"/>
                <a:sym typeface="Roboto"/>
              </a:rPr>
              <a:t>shape</a:t>
            </a:r>
            <a:r>
              <a:rPr lang="en" sz="700">
                <a:solidFill>
                  <a:schemeClr val="lt1"/>
                </a:solidFill>
                <a:latin typeface="Roboto"/>
                <a:ea typeface="Roboto"/>
                <a:cs typeface="Roboto"/>
                <a:sym typeface="Roboto"/>
              </a:rPr>
              <a:t> implementation. This allows for code flexibility and easy extension when adding new shapes without modifying the existing code that works with the abstraction.</a:t>
            </a:r>
            <a:endParaRPr sz="700">
              <a:solidFill>
                <a:schemeClr val="lt1"/>
              </a:solidFill>
              <a:latin typeface="Roboto"/>
              <a:ea typeface="Roboto"/>
              <a:cs typeface="Roboto"/>
              <a:sym typeface="Roboto"/>
            </a:endParaRPr>
          </a:p>
          <a:p>
            <a:pPr indent="0" lvl="0" marL="0" rtl="0" algn="l">
              <a:spcBef>
                <a:spcPts val="0"/>
              </a:spcBef>
              <a:spcAft>
                <a:spcPts val="0"/>
              </a:spcAft>
              <a:buNone/>
            </a:pPr>
            <a:r>
              <a:t/>
            </a:r>
            <a:endParaRPr sz="700">
              <a:solidFill>
                <a:schemeClr val="lt1"/>
              </a:solidFill>
              <a:latin typeface="Playfair Display"/>
              <a:ea typeface="Playfair Display"/>
              <a:cs typeface="Playfair Display"/>
              <a:sym typeface="Playfair Display"/>
            </a:endParaRPr>
          </a:p>
        </p:txBody>
      </p:sp>
      <p:sp>
        <p:nvSpPr>
          <p:cNvPr id="251" name="Google Shape;251;p40"/>
          <p:cNvSpPr txBox="1"/>
          <p:nvPr/>
        </p:nvSpPr>
        <p:spPr>
          <a:xfrm>
            <a:off x="4879550" y="3965375"/>
            <a:ext cx="4542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(5)</a:t>
            </a:r>
            <a:endParaRPr sz="1800">
              <a:solidFill>
                <a:schemeClr val="lt1"/>
              </a:solidFill>
              <a:latin typeface="Playfair Display"/>
              <a:ea typeface="Playfair Display"/>
              <a:cs typeface="Playfair Display"/>
              <a:sym typeface="Playfair Display"/>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1"/>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 Encapsulation P1</a:t>
            </a:r>
            <a:endParaRPr sz="2900">
              <a:latin typeface="Montserrat"/>
              <a:ea typeface="Montserrat"/>
              <a:cs typeface="Montserrat"/>
              <a:sym typeface="Montserrat"/>
            </a:endParaRPr>
          </a:p>
        </p:txBody>
      </p:sp>
      <p:sp>
        <p:nvSpPr>
          <p:cNvPr id="257" name="Google Shape;257;p41"/>
          <p:cNvSpPr txBox="1"/>
          <p:nvPr>
            <p:ph idx="1" type="subTitle"/>
          </p:nvPr>
        </p:nvSpPr>
        <p:spPr>
          <a:xfrm>
            <a:off x="223625" y="1277675"/>
            <a:ext cx="8735700" cy="3642300"/>
          </a:xfrm>
          <a:prstGeom prst="rect">
            <a:avLst/>
          </a:prstGeom>
        </p:spPr>
        <p:txBody>
          <a:bodyPr anchorCtr="0" anchor="ctr" bIns="91425" lIns="91425" spcFirstLastPara="1" rIns="91425" wrap="square" tIns="91425">
            <a:normAutofit fontScale="85000" lnSpcReduction="20000"/>
          </a:bodyPr>
          <a:lstStyle/>
          <a:p>
            <a:pPr indent="0" lvl="0" marL="45720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Encapsulation means containing all important information inside an object, and only exposing selected information to the outside world. Attributes and behaviors are defined by code inside the class template.</a:t>
            </a:r>
            <a:endParaRPr sz="1800"/>
          </a:p>
          <a:p>
            <a:pPr indent="0" lvl="0" marL="45720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Then, when an object is instantiated from the class, the data and methods are encapsulated in that object. Encapsulation hides the internal software code implementation inside a class and hides the internal data of inside objects.</a:t>
            </a:r>
            <a:endParaRPr sz="1800"/>
          </a:p>
          <a:p>
            <a:pPr indent="0" lvl="0" marL="45720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Encapsulation requires defining some fields as private and some as public.</a:t>
            </a:r>
            <a:endParaRPr sz="1800"/>
          </a:p>
          <a:p>
            <a:pPr indent="0" lvl="0" marL="45720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Private/ Internal interface: methods and properties accessible from other methods of the same class.</a:t>
            </a:r>
            <a:endParaRPr sz="1800"/>
          </a:p>
          <a:p>
            <a:pPr indent="-325755" lvl="0" marL="457200" rtl="0" algn="l">
              <a:spcBef>
                <a:spcPts val="0"/>
              </a:spcBef>
              <a:spcAft>
                <a:spcPts val="0"/>
              </a:spcAft>
              <a:buSzPct val="100000"/>
              <a:buChar char="●"/>
            </a:pPr>
            <a:r>
              <a:rPr lang="en" sz="1800"/>
              <a:t>Public / External Interface: methods and properties accessible from outside the class.</a:t>
            </a:r>
            <a:endParaRPr sz="1800"/>
          </a:p>
          <a:p>
            <a:pPr indent="-325755" lvl="0" marL="457200" rtl="0" algn="l">
              <a:spcBef>
                <a:spcPts val="0"/>
              </a:spcBef>
              <a:spcAft>
                <a:spcPts val="0"/>
              </a:spcAft>
              <a:buSzPct val="100000"/>
              <a:buChar char="●"/>
            </a:pPr>
            <a:r>
              <a:rPr lang="en" sz="1800"/>
              <a:t>NOTE: Private / Public are the most common field types. There are others we will also look at.</a:t>
            </a: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2"/>
          <p:cNvSpPr txBox="1"/>
          <p:nvPr>
            <p:ph type="ctrTitle"/>
          </p:nvPr>
        </p:nvSpPr>
        <p:spPr>
          <a:xfrm>
            <a:off x="83825" y="223625"/>
            <a:ext cx="8875500" cy="6849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rPr lang="en" sz="2700">
                <a:latin typeface="Montserrat"/>
                <a:ea typeface="Montserrat"/>
                <a:cs typeface="Montserrat"/>
                <a:sym typeface="Montserrat"/>
              </a:rPr>
              <a:t>OOP Concepts - </a:t>
            </a:r>
            <a:r>
              <a:rPr lang="en" sz="2700">
                <a:latin typeface="Montserrat"/>
                <a:ea typeface="Montserrat"/>
                <a:cs typeface="Montserrat"/>
                <a:sym typeface="Montserrat"/>
              </a:rPr>
              <a:t> Modifiers: Access Levels</a:t>
            </a:r>
            <a:endParaRPr sz="2700"/>
          </a:p>
        </p:txBody>
      </p:sp>
      <p:sp>
        <p:nvSpPr>
          <p:cNvPr id="263" name="Google Shape;263;p42"/>
          <p:cNvSpPr txBox="1"/>
          <p:nvPr>
            <p:ph idx="1" type="subTitle"/>
          </p:nvPr>
        </p:nvSpPr>
        <p:spPr>
          <a:xfrm>
            <a:off x="83850" y="908525"/>
            <a:ext cx="8875500" cy="4172100"/>
          </a:xfrm>
          <a:prstGeom prst="rect">
            <a:avLst/>
          </a:prstGeom>
        </p:spPr>
        <p:txBody>
          <a:bodyPr anchorCtr="0" anchor="ctr" bIns="91425" lIns="91425" spcFirstLastPara="1" rIns="91425" wrap="square" tIns="91425">
            <a:normAutofit fontScale="62500" lnSpcReduction="10000"/>
          </a:bodyPr>
          <a:lstStyle/>
          <a:p>
            <a:pPr indent="-300037" lvl="3" marL="3657600" rtl="0" algn="l">
              <a:spcBef>
                <a:spcPts val="0"/>
              </a:spcBef>
              <a:spcAft>
                <a:spcPts val="0"/>
              </a:spcAft>
              <a:buSzPct val="100000"/>
              <a:buChar char="●"/>
            </a:pPr>
            <a:r>
              <a:rPr lang="en" sz="1800">
                <a:solidFill>
                  <a:srgbClr val="116CC4"/>
                </a:solidFill>
              </a:rPr>
              <a:t>public</a:t>
            </a:r>
            <a:r>
              <a:rPr lang="en" sz="1800"/>
              <a:t>: The type or member can be accessed by any other code in the same assembly or another assembly that references it. The accessibility level of public members of a type is controlled by the accessibility level of the type itself.</a:t>
            </a:r>
            <a:br>
              <a:rPr lang="en" sz="1800"/>
            </a:br>
            <a:endParaRPr sz="1800"/>
          </a:p>
          <a:p>
            <a:pPr indent="-300037" lvl="3" marL="3657600" rtl="0" algn="l">
              <a:spcBef>
                <a:spcPts val="0"/>
              </a:spcBef>
              <a:spcAft>
                <a:spcPts val="0"/>
              </a:spcAft>
              <a:buSzPct val="100000"/>
              <a:buChar char="●"/>
            </a:pPr>
            <a:r>
              <a:rPr lang="en" sz="1800">
                <a:solidFill>
                  <a:srgbClr val="116CC4"/>
                </a:solidFill>
              </a:rPr>
              <a:t>private</a:t>
            </a:r>
            <a:r>
              <a:rPr lang="en" sz="1800"/>
              <a:t>: The type or member can be accessed only by code in the same class or struct.</a:t>
            </a:r>
            <a:br>
              <a:rPr lang="en" sz="1800"/>
            </a:br>
            <a:endParaRPr sz="1800"/>
          </a:p>
          <a:p>
            <a:pPr indent="-300037" lvl="3" marL="3657600" rtl="0" algn="l">
              <a:spcBef>
                <a:spcPts val="0"/>
              </a:spcBef>
              <a:spcAft>
                <a:spcPts val="0"/>
              </a:spcAft>
              <a:buSzPct val="100000"/>
              <a:buChar char="●"/>
            </a:pPr>
            <a:r>
              <a:rPr lang="en" sz="1800">
                <a:solidFill>
                  <a:srgbClr val="116CC4"/>
                </a:solidFill>
              </a:rPr>
              <a:t>protected</a:t>
            </a:r>
            <a:r>
              <a:rPr lang="en" sz="1800"/>
              <a:t>: The type or member can be accessed only by code in the same class, or in a class that is derived from that class.</a:t>
            </a:r>
            <a:br>
              <a:rPr lang="en" sz="1800"/>
            </a:br>
            <a:endParaRPr sz="1800"/>
          </a:p>
          <a:p>
            <a:pPr indent="-300037" lvl="3" marL="3657600" rtl="0" algn="l">
              <a:spcBef>
                <a:spcPts val="0"/>
              </a:spcBef>
              <a:spcAft>
                <a:spcPts val="0"/>
              </a:spcAft>
              <a:buSzPct val="100000"/>
              <a:buChar char="●"/>
            </a:pPr>
            <a:r>
              <a:rPr lang="en" sz="1800">
                <a:solidFill>
                  <a:srgbClr val="116CC4"/>
                </a:solidFill>
              </a:rPr>
              <a:t>internal</a:t>
            </a:r>
            <a:r>
              <a:rPr lang="en" sz="1800"/>
              <a:t>: The type or member can be accessed by any code in the same assembly, but not from another assembly. In other words, internal types or members can be accessed from code that is part of the same compilation.</a:t>
            </a:r>
            <a:br>
              <a:rPr lang="en" sz="1800"/>
            </a:br>
            <a:endParaRPr sz="1800"/>
          </a:p>
          <a:p>
            <a:pPr indent="-300037" lvl="3" marL="3657600" rtl="0" algn="l">
              <a:spcBef>
                <a:spcPts val="0"/>
              </a:spcBef>
              <a:spcAft>
                <a:spcPts val="0"/>
              </a:spcAft>
              <a:buSzPct val="100000"/>
              <a:buChar char="●"/>
            </a:pPr>
            <a:r>
              <a:rPr lang="en" sz="1800">
                <a:solidFill>
                  <a:srgbClr val="116CC4"/>
                </a:solidFill>
              </a:rPr>
              <a:t>protected internal</a:t>
            </a:r>
            <a:r>
              <a:rPr lang="en" sz="1800"/>
              <a:t>: The type or member can be accessed by any code in the assembly in which it's declared, or from within a derived class in another assembly.</a:t>
            </a:r>
            <a:br>
              <a:rPr lang="en" sz="1800"/>
            </a:br>
            <a:endParaRPr sz="1800"/>
          </a:p>
          <a:p>
            <a:pPr indent="-300037" lvl="3" marL="3657600" rtl="0" algn="l">
              <a:spcBef>
                <a:spcPts val="0"/>
              </a:spcBef>
              <a:spcAft>
                <a:spcPts val="0"/>
              </a:spcAft>
              <a:buSzPct val="100000"/>
              <a:buChar char="●"/>
            </a:pPr>
            <a:r>
              <a:rPr lang="en" sz="1800">
                <a:solidFill>
                  <a:srgbClr val="116CC4"/>
                </a:solidFill>
              </a:rPr>
              <a:t>private protected</a:t>
            </a:r>
            <a:r>
              <a:rPr lang="en" sz="1800"/>
              <a:t>: The type or member can be accessed by types derived from the class that are declared within its containing assembly.</a:t>
            </a:r>
            <a:endParaRPr sz="1800"/>
          </a:p>
          <a:p>
            <a:pPr indent="0" lvl="0" marL="0" rtl="0" algn="l">
              <a:spcBef>
                <a:spcPts val="0"/>
              </a:spcBef>
              <a:spcAft>
                <a:spcPts val="0"/>
              </a:spcAft>
              <a:buNone/>
            </a:pPr>
            <a:r>
              <a:t/>
            </a:r>
            <a:endParaRPr sz="1800"/>
          </a:p>
        </p:txBody>
      </p:sp>
      <p:pic>
        <p:nvPicPr>
          <p:cNvPr id="264" name="Google Shape;264;p42"/>
          <p:cNvPicPr preferRelativeResize="0"/>
          <p:nvPr/>
        </p:nvPicPr>
        <p:blipFill rotWithShape="1">
          <a:blip r:embed="rId3">
            <a:alphaModFix/>
          </a:blip>
          <a:srcRect b="0" l="1656" r="8310" t="0"/>
          <a:stretch/>
        </p:blipFill>
        <p:spPr>
          <a:xfrm>
            <a:off x="181700" y="1104175"/>
            <a:ext cx="3151775" cy="34383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3"/>
          <p:cNvSpPr txBox="1"/>
          <p:nvPr>
            <p:ph type="ctrTitle"/>
          </p:nvPr>
        </p:nvSpPr>
        <p:spPr>
          <a:xfrm>
            <a:off x="223625" y="223625"/>
            <a:ext cx="8826300" cy="9084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 Encapsulation P3</a:t>
            </a:r>
            <a:endParaRPr sz="2900">
              <a:latin typeface="Montserrat"/>
              <a:ea typeface="Montserrat"/>
              <a:cs typeface="Montserrat"/>
              <a:sym typeface="Montserrat"/>
            </a:endParaRPr>
          </a:p>
        </p:txBody>
      </p:sp>
      <p:sp>
        <p:nvSpPr>
          <p:cNvPr id="270" name="Google Shape;270;p43"/>
          <p:cNvSpPr txBox="1"/>
          <p:nvPr>
            <p:ph idx="1" type="subTitle"/>
          </p:nvPr>
        </p:nvSpPr>
        <p:spPr>
          <a:xfrm>
            <a:off x="223625" y="1132025"/>
            <a:ext cx="8826300" cy="3850800"/>
          </a:xfrm>
          <a:prstGeom prst="rect">
            <a:avLst/>
          </a:prstGeom>
        </p:spPr>
        <p:txBody>
          <a:bodyPr anchorCtr="0" anchor="ctr" bIns="91425" lIns="91425" spcFirstLastPara="1" rIns="91425" wrap="square" tIns="91425">
            <a:normAutofit fontScale="77500" lnSpcReduction="20000"/>
          </a:bodyPr>
          <a:lstStyle/>
          <a:p>
            <a:pPr indent="-317182" lvl="0" marL="4572000" rtl="0" algn="l">
              <a:spcBef>
                <a:spcPts val="0"/>
              </a:spcBef>
              <a:spcAft>
                <a:spcPts val="0"/>
              </a:spcAft>
              <a:buSzPct val="100000"/>
              <a:buChar char="●"/>
            </a:pPr>
            <a:r>
              <a:rPr lang="en" sz="1800"/>
              <a:t>Let’s use a car as a metaphor for encapsulation. The information the car shares with the outside world, using blinkers to indicate turns, are public interfaces. In contrast, the engine is hidden under the hood.</a:t>
            </a:r>
            <a:endParaRPr sz="1800"/>
          </a:p>
          <a:p>
            <a:pPr indent="0" lvl="0" marL="4572000" rtl="0" algn="l">
              <a:spcBef>
                <a:spcPts val="0"/>
              </a:spcBef>
              <a:spcAft>
                <a:spcPts val="0"/>
              </a:spcAft>
              <a:buNone/>
            </a:pPr>
            <a:r>
              <a:t/>
            </a:r>
            <a:endParaRPr sz="1800"/>
          </a:p>
          <a:p>
            <a:pPr indent="-317182" lvl="0" marL="4572000" rtl="0" algn="l">
              <a:spcBef>
                <a:spcPts val="0"/>
              </a:spcBef>
              <a:spcAft>
                <a:spcPts val="0"/>
              </a:spcAft>
              <a:buSzPct val="100000"/>
              <a:buChar char="●"/>
            </a:pPr>
            <a:r>
              <a:rPr lang="en" sz="1800"/>
              <a:t>It’s a private, internal interface. When you’re driving a car down the road, other drivers require information to make decisions, like whether you’re turning left or right. However, exposing internal, private data like the engine temperature would confuse other drivers.</a:t>
            </a:r>
            <a:br>
              <a:rPr lang="en" sz="1800"/>
            </a:br>
            <a:endParaRPr sz="1800"/>
          </a:p>
          <a:p>
            <a:pPr indent="-317182" lvl="0" marL="4572000" rtl="0" algn="l">
              <a:spcBef>
                <a:spcPts val="0"/>
              </a:spcBef>
              <a:spcAft>
                <a:spcPts val="0"/>
              </a:spcAft>
              <a:buSzPct val="100000"/>
              <a:buChar char="●"/>
            </a:pPr>
            <a:r>
              <a:rPr lang="en" sz="1800"/>
              <a:t>Encapsulation adds security. Attributes and methods can be set to private, so they can’t be accessed outside the class. To get information about data in an object, public methods &amp; properties are used to access or update data.</a:t>
            </a:r>
            <a:endParaRPr sz="1800"/>
          </a:p>
        </p:txBody>
      </p:sp>
      <p:pic>
        <p:nvPicPr>
          <p:cNvPr id="271" name="Google Shape;271;p43"/>
          <p:cNvPicPr preferRelativeResize="0"/>
          <p:nvPr/>
        </p:nvPicPr>
        <p:blipFill>
          <a:blip r:embed="rId3">
            <a:alphaModFix/>
          </a:blip>
          <a:stretch>
            <a:fillRect/>
          </a:stretch>
        </p:blipFill>
        <p:spPr>
          <a:xfrm>
            <a:off x="382950" y="1456150"/>
            <a:ext cx="4047725" cy="29535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4"/>
          <p:cNvSpPr txBox="1"/>
          <p:nvPr>
            <p:ph type="ctrTitle"/>
          </p:nvPr>
        </p:nvSpPr>
        <p:spPr>
          <a:xfrm>
            <a:off x="111725" y="223625"/>
            <a:ext cx="8847600" cy="7758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 Inheritance P1</a:t>
            </a:r>
            <a:endParaRPr sz="2900">
              <a:latin typeface="Montserrat"/>
              <a:ea typeface="Montserrat"/>
              <a:cs typeface="Montserrat"/>
              <a:sym typeface="Montserrat"/>
            </a:endParaRPr>
          </a:p>
        </p:txBody>
      </p:sp>
      <p:sp>
        <p:nvSpPr>
          <p:cNvPr id="277" name="Google Shape;277;p44"/>
          <p:cNvSpPr txBox="1"/>
          <p:nvPr>
            <p:ph idx="1" type="subTitle"/>
          </p:nvPr>
        </p:nvSpPr>
        <p:spPr>
          <a:xfrm>
            <a:off x="72300" y="999425"/>
            <a:ext cx="8887200" cy="4074300"/>
          </a:xfrm>
          <a:prstGeom prst="rect">
            <a:avLst/>
          </a:prstGeom>
        </p:spPr>
        <p:txBody>
          <a:bodyPr anchorCtr="0" anchor="ctr" bIns="91425" lIns="91425" spcFirstLastPara="1" rIns="91425" wrap="square" tIns="91425">
            <a:normAutofit fontScale="25000" lnSpcReduction="20000"/>
          </a:bodyPr>
          <a:lstStyle/>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1800"/>
          </a:p>
          <a:p>
            <a:pPr indent="0" lvl="0" marL="0" rtl="0" algn="l">
              <a:spcBef>
                <a:spcPts val="0"/>
              </a:spcBef>
              <a:spcAft>
                <a:spcPts val="0"/>
              </a:spcAft>
              <a:buNone/>
            </a:pPr>
            <a:br>
              <a:rPr lang="en" sz="1800"/>
            </a:br>
            <a:br>
              <a:rPr lang="en" sz="3650"/>
            </a:br>
            <a:br>
              <a:rPr lang="en" sz="3650"/>
            </a:br>
            <a:endParaRPr sz="3650"/>
          </a:p>
          <a:p>
            <a:pPr indent="0" lvl="0" marL="5486400" rtl="0" algn="l">
              <a:spcBef>
                <a:spcPts val="0"/>
              </a:spcBef>
              <a:spcAft>
                <a:spcPts val="0"/>
              </a:spcAft>
              <a:buNone/>
            </a:pPr>
            <a:r>
              <a:t/>
            </a:r>
            <a:endParaRPr sz="3650"/>
          </a:p>
          <a:p>
            <a:pPr indent="0" lvl="0" marL="5486400" rtl="0" algn="l">
              <a:spcBef>
                <a:spcPts val="0"/>
              </a:spcBef>
              <a:spcAft>
                <a:spcPts val="0"/>
              </a:spcAft>
              <a:buNone/>
            </a:pPr>
            <a:r>
              <a:t/>
            </a:r>
            <a:endParaRPr sz="3650"/>
          </a:p>
          <a:p>
            <a:pPr indent="0" lvl="0" marL="5486400" rtl="0" algn="l">
              <a:spcBef>
                <a:spcPts val="0"/>
              </a:spcBef>
              <a:spcAft>
                <a:spcPts val="0"/>
              </a:spcAft>
              <a:buNone/>
            </a:pPr>
            <a:r>
              <a:t/>
            </a:r>
            <a:endParaRPr sz="3650"/>
          </a:p>
          <a:p>
            <a:pPr indent="0" lvl="0" marL="5486400" rtl="0" algn="l">
              <a:spcBef>
                <a:spcPts val="0"/>
              </a:spcBef>
              <a:spcAft>
                <a:spcPts val="0"/>
              </a:spcAft>
              <a:buNone/>
            </a:pPr>
            <a:r>
              <a:t/>
            </a:r>
            <a:endParaRPr sz="3650"/>
          </a:p>
          <a:p>
            <a:pPr indent="-286543" lvl="0" marL="5486400" rtl="0" algn="l">
              <a:spcBef>
                <a:spcPts val="0"/>
              </a:spcBef>
              <a:spcAft>
                <a:spcPts val="0"/>
              </a:spcAft>
              <a:buSzPct val="100000"/>
              <a:buChar char="●"/>
            </a:pPr>
            <a:r>
              <a:rPr lang="en" sz="3650"/>
              <a:t>Inheritance allows classes to inherit features of other classes. </a:t>
            </a:r>
            <a:endParaRPr sz="3650"/>
          </a:p>
          <a:p>
            <a:pPr indent="0" lvl="0" marL="5486400" rtl="0" algn="l">
              <a:spcBef>
                <a:spcPts val="0"/>
              </a:spcBef>
              <a:spcAft>
                <a:spcPts val="0"/>
              </a:spcAft>
              <a:buNone/>
            </a:pPr>
            <a:r>
              <a:t/>
            </a:r>
            <a:endParaRPr sz="3650"/>
          </a:p>
          <a:p>
            <a:pPr indent="-286543" lvl="0" marL="5486400" rtl="0" algn="l">
              <a:spcBef>
                <a:spcPts val="0"/>
              </a:spcBef>
              <a:spcAft>
                <a:spcPts val="0"/>
              </a:spcAft>
              <a:buSzPct val="100000"/>
              <a:buChar char="●"/>
            </a:pPr>
            <a:r>
              <a:rPr lang="en" sz="3650"/>
              <a:t>Put another way, parent classes extend attributes and behaviors to child classes. Inheritance supports reusability.</a:t>
            </a:r>
            <a:br>
              <a:rPr lang="en" sz="3650"/>
            </a:br>
            <a:br>
              <a:rPr lang="en" sz="3650"/>
            </a:br>
            <a:endParaRPr sz="3650"/>
          </a:p>
          <a:p>
            <a:pPr indent="-286543" lvl="0" marL="5486400" rtl="0" algn="l">
              <a:spcBef>
                <a:spcPts val="0"/>
              </a:spcBef>
              <a:spcAft>
                <a:spcPts val="0"/>
              </a:spcAft>
              <a:buSzPct val="100000"/>
              <a:buChar char="●"/>
            </a:pPr>
            <a:r>
              <a:rPr lang="en" sz="3650"/>
              <a:t>So when we create a class, we do not need to write all the properties and functions again and again, as these can be inherited from another class that possesses it. </a:t>
            </a:r>
            <a:br>
              <a:rPr lang="en" sz="3650"/>
            </a:br>
            <a:endParaRPr sz="3650"/>
          </a:p>
          <a:p>
            <a:pPr indent="-286543" lvl="0" marL="5486400" rtl="0" algn="l">
              <a:spcBef>
                <a:spcPts val="0"/>
              </a:spcBef>
              <a:spcAft>
                <a:spcPts val="0"/>
              </a:spcAft>
              <a:buSzPct val="100000"/>
              <a:buChar char="●"/>
            </a:pPr>
            <a:r>
              <a:rPr lang="en" sz="3650"/>
              <a:t>Inheritance allows the user to reuse the code whenever possible and reduce its redundancy.</a:t>
            </a:r>
            <a:br>
              <a:rPr lang="en" sz="3650"/>
            </a:br>
            <a:endParaRPr sz="3650"/>
          </a:p>
          <a:p>
            <a:pPr indent="-286543" lvl="0" marL="5486400" rtl="0" algn="l">
              <a:spcBef>
                <a:spcPts val="0"/>
              </a:spcBef>
              <a:spcAft>
                <a:spcPts val="0"/>
              </a:spcAft>
              <a:buSzPct val="100000"/>
              <a:buChar char="●"/>
            </a:pPr>
            <a:r>
              <a:rPr lang="en" sz="3650"/>
              <a:t>For example, herding dogs have the unique ability to herd animals. In other words, all herding dogs are dogs, but not all dogs are herding dogs. We represent this difference by creating a child class </a:t>
            </a:r>
            <a:r>
              <a:rPr lang="en" sz="3650">
                <a:solidFill>
                  <a:srgbClr val="116CC4"/>
                </a:solidFill>
              </a:rPr>
              <a:t>HerdingDog </a:t>
            </a:r>
            <a:r>
              <a:rPr lang="en" sz="3650"/>
              <a:t>from the parent class </a:t>
            </a:r>
            <a:r>
              <a:rPr lang="en" sz="3650">
                <a:solidFill>
                  <a:srgbClr val="116CC4"/>
                </a:solidFill>
              </a:rPr>
              <a:t>Dog</a:t>
            </a:r>
            <a:r>
              <a:rPr lang="en" sz="3650"/>
              <a:t>, and then adding the unique </a:t>
            </a:r>
            <a:r>
              <a:rPr lang="en" sz="3650">
                <a:solidFill>
                  <a:srgbClr val="116CC4"/>
                </a:solidFill>
              </a:rPr>
              <a:t>herd()</a:t>
            </a:r>
            <a:r>
              <a:rPr lang="en" sz="3650"/>
              <a:t> behavior.</a:t>
            </a:r>
            <a:endParaRPr sz="3650"/>
          </a:p>
          <a:p>
            <a:pPr indent="0" lvl="0" marL="5486400" rtl="0" algn="l">
              <a:spcBef>
                <a:spcPts val="0"/>
              </a:spcBef>
              <a:spcAft>
                <a:spcPts val="0"/>
              </a:spcAft>
              <a:buNone/>
            </a:pPr>
            <a:r>
              <a:t/>
            </a:r>
            <a:endParaRPr sz="3650"/>
          </a:p>
          <a:p>
            <a:pPr indent="-286543" lvl="0" marL="5486400" rtl="0" algn="l">
              <a:spcBef>
                <a:spcPts val="0"/>
              </a:spcBef>
              <a:spcAft>
                <a:spcPts val="0"/>
              </a:spcAft>
              <a:buSzPct val="100000"/>
              <a:buChar char="●"/>
            </a:pPr>
            <a:r>
              <a:rPr lang="en" sz="3650"/>
              <a:t>The benefits of inheritance are programs can create a generic parent class and then create more specific child classes as needed.</a:t>
            </a:r>
            <a:br>
              <a:rPr lang="en" sz="3650"/>
            </a:br>
            <a:endParaRPr sz="3650"/>
          </a:p>
          <a:p>
            <a:pPr indent="0" lvl="0" marL="0" rtl="0" algn="l">
              <a:spcBef>
                <a:spcPts val="0"/>
              </a:spcBef>
              <a:spcAft>
                <a:spcPts val="0"/>
              </a:spcAft>
              <a:buNone/>
            </a:pPr>
            <a:r>
              <a:t/>
            </a:r>
            <a:endParaRPr sz="3650"/>
          </a:p>
          <a:p>
            <a:pPr indent="0" lvl="0" marL="0" rtl="0" algn="l">
              <a:spcBef>
                <a:spcPts val="0"/>
              </a:spcBef>
              <a:spcAft>
                <a:spcPts val="0"/>
              </a:spcAft>
              <a:buNone/>
            </a:pPr>
            <a:r>
              <a:t/>
            </a:r>
            <a:endParaRPr sz="3650"/>
          </a:p>
          <a:p>
            <a:pPr indent="0" lvl="0" marL="0" rtl="0" algn="l">
              <a:spcBef>
                <a:spcPts val="0"/>
              </a:spcBef>
              <a:spcAft>
                <a:spcPts val="0"/>
              </a:spcAft>
              <a:buNone/>
            </a:pPr>
            <a:r>
              <a:t/>
            </a:r>
            <a:endParaRPr sz="3650"/>
          </a:p>
          <a:p>
            <a:pPr indent="0" lvl="0" marL="0" rtl="0" algn="l">
              <a:spcBef>
                <a:spcPts val="0"/>
              </a:spcBef>
              <a:spcAft>
                <a:spcPts val="0"/>
              </a:spcAft>
              <a:buNone/>
            </a:pPr>
            <a:r>
              <a:t/>
            </a:r>
            <a:endParaRPr sz="3650"/>
          </a:p>
          <a:p>
            <a:pPr indent="457200" lvl="0" marL="5029200" rtl="0" algn="l">
              <a:spcBef>
                <a:spcPts val="0"/>
              </a:spcBef>
              <a:spcAft>
                <a:spcPts val="0"/>
              </a:spcAft>
              <a:buNone/>
            </a:pPr>
            <a:br>
              <a:rPr lang="en" sz="1800"/>
            </a:br>
            <a:br>
              <a:rPr lang="en" sz="1800"/>
            </a:br>
            <a:br>
              <a:rPr lang="en" sz="1800"/>
            </a:br>
            <a:br>
              <a:rPr lang="en" sz="1800"/>
            </a:br>
            <a:br>
              <a:rPr lang="en" sz="1800"/>
            </a:br>
            <a:br>
              <a:rPr lang="en" sz="1800"/>
            </a:br>
            <a:br>
              <a:rPr lang="en" sz="1800"/>
            </a:br>
            <a:br>
              <a:rPr lang="en" sz="1800"/>
            </a:br>
            <a:br>
              <a:rPr lang="en" sz="1800"/>
            </a:br>
            <a:br>
              <a:rPr lang="en" sz="1800"/>
            </a:br>
            <a:endParaRPr sz="1800"/>
          </a:p>
        </p:txBody>
      </p:sp>
      <p:pic>
        <p:nvPicPr>
          <p:cNvPr id="278" name="Google Shape;278;p44"/>
          <p:cNvPicPr preferRelativeResize="0"/>
          <p:nvPr/>
        </p:nvPicPr>
        <p:blipFill>
          <a:blip r:embed="rId3">
            <a:alphaModFix/>
          </a:blip>
          <a:stretch>
            <a:fillRect/>
          </a:stretch>
        </p:blipFill>
        <p:spPr>
          <a:xfrm>
            <a:off x="163150" y="1195025"/>
            <a:ext cx="4889499" cy="34942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5"/>
          <p:cNvSpPr txBox="1"/>
          <p:nvPr>
            <p:ph type="ctrTitle"/>
          </p:nvPr>
        </p:nvSpPr>
        <p:spPr>
          <a:xfrm>
            <a:off x="111725" y="223625"/>
            <a:ext cx="8847600" cy="7758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 Inheritance P2</a:t>
            </a:r>
            <a:endParaRPr sz="2900">
              <a:latin typeface="Montserrat"/>
              <a:ea typeface="Montserrat"/>
              <a:cs typeface="Montserrat"/>
              <a:sym typeface="Montserrat"/>
            </a:endParaRPr>
          </a:p>
        </p:txBody>
      </p:sp>
      <p:sp>
        <p:nvSpPr>
          <p:cNvPr id="284" name="Google Shape;284;p45"/>
          <p:cNvSpPr txBox="1"/>
          <p:nvPr>
            <p:ph idx="1" type="subTitle"/>
          </p:nvPr>
        </p:nvSpPr>
        <p:spPr>
          <a:xfrm>
            <a:off x="72300" y="999425"/>
            <a:ext cx="8887200" cy="4074300"/>
          </a:xfrm>
          <a:prstGeom prst="rect">
            <a:avLst/>
          </a:prstGeom>
        </p:spPr>
        <p:txBody>
          <a:bodyPr anchorCtr="0" anchor="ctr" bIns="91425" lIns="91425" spcFirstLastPara="1" rIns="91425" wrap="square" tIns="91425">
            <a:normAutofit fontScale="55000" lnSpcReduction="20000"/>
          </a:bodyPr>
          <a:lstStyle/>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1800"/>
          </a:p>
          <a:p>
            <a:pPr indent="0" lvl="0" marL="0" rtl="0" algn="l">
              <a:spcBef>
                <a:spcPts val="0"/>
              </a:spcBef>
              <a:spcAft>
                <a:spcPts val="0"/>
              </a:spcAft>
              <a:buNone/>
            </a:pPr>
            <a:br>
              <a:rPr lang="en" sz="1800"/>
            </a:br>
            <a:br>
              <a:rPr lang="en" sz="3650"/>
            </a:br>
            <a:br>
              <a:rPr lang="en" sz="3650"/>
            </a:br>
            <a:endParaRPr sz="3650"/>
          </a:p>
          <a:p>
            <a:pPr indent="0" lvl="0" marL="5486400" rtl="0" algn="l">
              <a:spcBef>
                <a:spcPts val="0"/>
              </a:spcBef>
              <a:spcAft>
                <a:spcPts val="0"/>
              </a:spcAft>
              <a:buNone/>
            </a:pPr>
            <a:r>
              <a:t/>
            </a:r>
            <a:endParaRPr sz="3650"/>
          </a:p>
          <a:p>
            <a:pPr indent="0" lvl="0" marL="5486400" rtl="0" algn="l">
              <a:spcBef>
                <a:spcPts val="0"/>
              </a:spcBef>
              <a:spcAft>
                <a:spcPts val="0"/>
              </a:spcAft>
              <a:buNone/>
            </a:pPr>
            <a:r>
              <a:t/>
            </a:r>
            <a:endParaRPr sz="3650"/>
          </a:p>
          <a:p>
            <a:pPr indent="0" lvl="0" marL="0" rtl="0" algn="l">
              <a:spcBef>
                <a:spcPts val="0"/>
              </a:spcBef>
              <a:spcAft>
                <a:spcPts val="0"/>
              </a:spcAft>
              <a:buNone/>
            </a:pPr>
            <a:r>
              <a:t/>
            </a:r>
            <a:endParaRPr sz="3650"/>
          </a:p>
          <a:p>
            <a:pPr indent="0" lvl="0" marL="0" rtl="0" algn="l">
              <a:spcBef>
                <a:spcPts val="0"/>
              </a:spcBef>
              <a:spcAft>
                <a:spcPts val="0"/>
              </a:spcAft>
              <a:buNone/>
            </a:pPr>
            <a:r>
              <a:t/>
            </a:r>
            <a:endParaRPr sz="3650"/>
          </a:p>
          <a:p>
            <a:pPr indent="0" lvl="0" marL="0" rtl="0" algn="l">
              <a:spcBef>
                <a:spcPts val="0"/>
              </a:spcBef>
              <a:spcAft>
                <a:spcPts val="0"/>
              </a:spcAft>
              <a:buNone/>
            </a:pPr>
            <a:r>
              <a:t/>
            </a:r>
            <a:endParaRPr sz="3650"/>
          </a:p>
          <a:p>
            <a:pPr indent="457200" lvl="0" marL="5029200" rtl="0" algn="l">
              <a:spcBef>
                <a:spcPts val="0"/>
              </a:spcBef>
              <a:spcAft>
                <a:spcPts val="0"/>
              </a:spcAft>
              <a:buNone/>
            </a:pPr>
            <a:br>
              <a:rPr lang="en" sz="1800"/>
            </a:br>
            <a:br>
              <a:rPr lang="en" sz="1800"/>
            </a:br>
            <a:br>
              <a:rPr lang="en" sz="1800"/>
            </a:br>
            <a:br>
              <a:rPr lang="en" sz="1800"/>
            </a:br>
            <a:br>
              <a:rPr lang="en" sz="1800"/>
            </a:br>
            <a:br>
              <a:rPr lang="en" sz="1800"/>
            </a:br>
            <a:br>
              <a:rPr lang="en" sz="1800"/>
            </a:br>
            <a:br>
              <a:rPr lang="en" sz="1800"/>
            </a:br>
            <a:br>
              <a:rPr lang="en" sz="1800"/>
            </a:br>
            <a:br>
              <a:rPr lang="en" sz="1800"/>
            </a:br>
            <a:endParaRPr sz="1800"/>
          </a:p>
        </p:txBody>
      </p:sp>
      <p:pic>
        <p:nvPicPr>
          <p:cNvPr id="285" name="Google Shape;285;p45"/>
          <p:cNvPicPr preferRelativeResize="0"/>
          <p:nvPr/>
        </p:nvPicPr>
        <p:blipFill rotWithShape="1">
          <a:blip r:embed="rId3">
            <a:alphaModFix/>
          </a:blip>
          <a:srcRect b="2043" l="0" r="18580" t="2445"/>
          <a:stretch/>
        </p:blipFill>
        <p:spPr>
          <a:xfrm>
            <a:off x="541775" y="1432725"/>
            <a:ext cx="2728825" cy="3207700"/>
          </a:xfrm>
          <a:prstGeom prst="rect">
            <a:avLst/>
          </a:prstGeom>
          <a:noFill/>
          <a:ln>
            <a:noFill/>
          </a:ln>
        </p:spPr>
      </p:pic>
      <p:pic>
        <p:nvPicPr>
          <p:cNvPr id="286" name="Google Shape;286;p45"/>
          <p:cNvPicPr preferRelativeResize="0"/>
          <p:nvPr/>
        </p:nvPicPr>
        <p:blipFill>
          <a:blip r:embed="rId4">
            <a:alphaModFix/>
          </a:blip>
          <a:stretch>
            <a:fillRect/>
          </a:stretch>
        </p:blipFill>
        <p:spPr>
          <a:xfrm>
            <a:off x="4063500" y="1474550"/>
            <a:ext cx="4340324" cy="2852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6"/>
          <p:cNvSpPr txBox="1"/>
          <p:nvPr>
            <p:ph type="ctrTitle"/>
          </p:nvPr>
        </p:nvSpPr>
        <p:spPr>
          <a:xfrm>
            <a:off x="111725" y="223625"/>
            <a:ext cx="8847600" cy="7758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 Inheritance P3</a:t>
            </a:r>
            <a:endParaRPr sz="2900">
              <a:latin typeface="Montserrat"/>
              <a:ea typeface="Montserrat"/>
              <a:cs typeface="Montserrat"/>
              <a:sym typeface="Montserrat"/>
            </a:endParaRPr>
          </a:p>
        </p:txBody>
      </p:sp>
      <p:sp>
        <p:nvSpPr>
          <p:cNvPr id="292" name="Google Shape;292;p46"/>
          <p:cNvSpPr txBox="1"/>
          <p:nvPr>
            <p:ph idx="1" type="subTitle"/>
          </p:nvPr>
        </p:nvSpPr>
        <p:spPr>
          <a:xfrm>
            <a:off x="72300" y="999425"/>
            <a:ext cx="8887200" cy="4074300"/>
          </a:xfrm>
          <a:prstGeom prst="rect">
            <a:avLst/>
          </a:prstGeom>
        </p:spPr>
        <p:txBody>
          <a:bodyPr anchorCtr="0" anchor="ctr" bIns="91425" lIns="91425" spcFirstLastPara="1" rIns="91425" wrap="square" tIns="91425">
            <a:normAutofit fontScale="25000" lnSpcReduction="20000"/>
          </a:bodyPr>
          <a:lstStyle/>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3000"/>
          </a:p>
          <a:p>
            <a:pPr indent="0" lvl="0" marL="0" rtl="0" algn="l">
              <a:spcBef>
                <a:spcPts val="0"/>
              </a:spcBef>
              <a:spcAft>
                <a:spcPts val="0"/>
              </a:spcAft>
              <a:buNone/>
            </a:pPr>
            <a:r>
              <a:t/>
            </a:r>
            <a:endParaRPr sz="4850"/>
          </a:p>
          <a:p>
            <a:pPr indent="0" lvl="0" marL="0" rtl="0" algn="l">
              <a:spcBef>
                <a:spcPts val="0"/>
              </a:spcBef>
              <a:spcAft>
                <a:spcPts val="0"/>
              </a:spcAft>
              <a:buNone/>
            </a:pPr>
            <a:r>
              <a:t/>
            </a:r>
            <a:endParaRPr sz="4850"/>
          </a:p>
          <a:p>
            <a:pPr indent="0" lvl="0" marL="0" rtl="0" algn="l">
              <a:spcBef>
                <a:spcPts val="0"/>
              </a:spcBef>
              <a:spcAft>
                <a:spcPts val="0"/>
              </a:spcAft>
              <a:buNone/>
            </a:pPr>
            <a:r>
              <a:t/>
            </a:r>
            <a:endParaRPr sz="4850"/>
          </a:p>
          <a:p>
            <a:pPr indent="0" lvl="0" marL="0" rtl="0" algn="l">
              <a:spcBef>
                <a:spcPts val="0"/>
              </a:spcBef>
              <a:spcAft>
                <a:spcPts val="0"/>
              </a:spcAft>
              <a:buNone/>
            </a:pPr>
            <a:r>
              <a:t/>
            </a:r>
            <a:endParaRPr sz="4850"/>
          </a:p>
          <a:p>
            <a:pPr indent="0" lvl="0" marL="0" rtl="0" algn="l">
              <a:spcBef>
                <a:spcPts val="0"/>
              </a:spcBef>
              <a:spcAft>
                <a:spcPts val="0"/>
              </a:spcAft>
              <a:buNone/>
            </a:pPr>
            <a:r>
              <a:t/>
            </a:r>
            <a:endParaRPr sz="5250"/>
          </a:p>
          <a:p>
            <a:pPr indent="0" lvl="0" marL="0" rtl="0" algn="l">
              <a:spcBef>
                <a:spcPts val="0"/>
              </a:spcBef>
              <a:spcAft>
                <a:spcPts val="0"/>
              </a:spcAft>
              <a:buNone/>
            </a:pPr>
            <a:r>
              <a:t/>
            </a:r>
            <a:endParaRPr sz="5250"/>
          </a:p>
          <a:p>
            <a:pPr indent="0" lvl="0" marL="0" rtl="0" algn="l">
              <a:spcBef>
                <a:spcPts val="0"/>
              </a:spcBef>
              <a:spcAft>
                <a:spcPts val="0"/>
              </a:spcAft>
              <a:buNone/>
            </a:pPr>
            <a:r>
              <a:t/>
            </a:r>
            <a:endParaRPr sz="5250"/>
          </a:p>
          <a:p>
            <a:pPr indent="0" lvl="0" marL="0" rtl="0" algn="l">
              <a:spcBef>
                <a:spcPts val="0"/>
              </a:spcBef>
              <a:spcAft>
                <a:spcPts val="0"/>
              </a:spcAft>
              <a:buNone/>
            </a:pPr>
            <a:r>
              <a:t/>
            </a:r>
            <a:endParaRPr sz="5250"/>
          </a:p>
          <a:p>
            <a:pPr indent="0" lvl="0" marL="0" rtl="0" algn="l">
              <a:spcBef>
                <a:spcPts val="0"/>
              </a:spcBef>
              <a:spcAft>
                <a:spcPts val="0"/>
              </a:spcAft>
              <a:buNone/>
            </a:pPr>
            <a:r>
              <a:t/>
            </a:r>
            <a:endParaRPr sz="5250"/>
          </a:p>
          <a:p>
            <a:pPr indent="0" lvl="0" marL="0" rtl="0" algn="l">
              <a:spcBef>
                <a:spcPts val="0"/>
              </a:spcBef>
              <a:spcAft>
                <a:spcPts val="0"/>
              </a:spcAft>
              <a:buNone/>
            </a:pPr>
            <a:r>
              <a:t/>
            </a:r>
            <a:endParaRPr sz="5250"/>
          </a:p>
          <a:p>
            <a:pPr indent="-311943" lvl="0" marL="5029200" rtl="0" algn="l">
              <a:spcBef>
                <a:spcPts val="0"/>
              </a:spcBef>
              <a:spcAft>
                <a:spcPts val="0"/>
              </a:spcAft>
              <a:buSzPct val="100000"/>
              <a:buChar char="●"/>
            </a:pPr>
            <a:r>
              <a:rPr lang="en" sz="5250"/>
              <a:t>In this example, we have a base class Dog with generic properties and behavior such as </a:t>
            </a:r>
            <a:r>
              <a:rPr lang="en" sz="5250">
                <a:solidFill>
                  <a:srgbClr val="116CC4"/>
                </a:solidFill>
              </a:rPr>
              <a:t>Bark()</a:t>
            </a:r>
            <a:r>
              <a:rPr lang="en" sz="5250"/>
              <a:t>. </a:t>
            </a:r>
            <a:br>
              <a:rPr lang="en" sz="5250"/>
            </a:br>
            <a:endParaRPr sz="5250"/>
          </a:p>
          <a:p>
            <a:pPr indent="-311943" lvl="0" marL="5029200" rtl="0" algn="l">
              <a:spcBef>
                <a:spcPts val="0"/>
              </a:spcBef>
              <a:spcAft>
                <a:spcPts val="0"/>
              </a:spcAft>
              <a:buSzPct val="100000"/>
              <a:buChar char="●"/>
            </a:pPr>
            <a:r>
              <a:rPr lang="en" sz="5250"/>
              <a:t>The HerdingDog class is derived from Dog and includes the specific behavior </a:t>
            </a:r>
            <a:r>
              <a:rPr lang="en" sz="5250">
                <a:solidFill>
                  <a:srgbClr val="116CC4"/>
                </a:solidFill>
              </a:rPr>
              <a:t>Herd()</a:t>
            </a:r>
            <a:r>
              <a:rPr lang="en" sz="5250"/>
              <a:t>, which is unique to herding dogs.</a:t>
            </a:r>
            <a:endParaRPr sz="5250"/>
          </a:p>
          <a:p>
            <a:pPr indent="0" lvl="0" marL="5029200" rtl="0" algn="l">
              <a:spcBef>
                <a:spcPts val="0"/>
              </a:spcBef>
              <a:spcAft>
                <a:spcPts val="0"/>
              </a:spcAft>
              <a:buNone/>
            </a:pPr>
            <a:r>
              <a:t/>
            </a:r>
            <a:endParaRPr sz="5250"/>
          </a:p>
          <a:p>
            <a:pPr indent="-311943" lvl="0" marL="5029200" rtl="0" algn="l">
              <a:spcBef>
                <a:spcPts val="0"/>
              </a:spcBef>
              <a:spcAft>
                <a:spcPts val="0"/>
              </a:spcAft>
              <a:buSzPct val="100000"/>
              <a:buChar char="●"/>
            </a:pPr>
            <a:r>
              <a:rPr lang="en" sz="5250"/>
              <a:t>By using inheritance, the HerdingDog class inherits the properties and behaviors of the base class Dog and extends it with its own unique behavior. </a:t>
            </a:r>
            <a:br>
              <a:rPr lang="en" sz="5250"/>
            </a:br>
            <a:endParaRPr sz="5250"/>
          </a:p>
          <a:p>
            <a:pPr indent="-311943" lvl="0" marL="5029200" rtl="0" algn="l">
              <a:spcBef>
                <a:spcPts val="0"/>
              </a:spcBef>
              <a:spcAft>
                <a:spcPts val="0"/>
              </a:spcAft>
              <a:buSzPct val="100000"/>
              <a:buChar char="●"/>
            </a:pPr>
            <a:r>
              <a:rPr lang="en" sz="5250"/>
              <a:t>This concept reflects the idea that all herding dogs are dogs (inheriting common traits), but herding dogs have additional abilities that are specific to their role.</a:t>
            </a:r>
            <a:br>
              <a:rPr lang="en" sz="3650"/>
            </a:br>
            <a:br>
              <a:rPr lang="en" sz="5250"/>
            </a:br>
            <a:endParaRPr sz="5250"/>
          </a:p>
          <a:p>
            <a:pPr indent="0" lvl="0" marL="5029200" rtl="0" algn="l">
              <a:spcBef>
                <a:spcPts val="0"/>
              </a:spcBef>
              <a:spcAft>
                <a:spcPts val="0"/>
              </a:spcAft>
              <a:buNone/>
            </a:pPr>
            <a:br>
              <a:rPr lang="en" sz="3650"/>
            </a:br>
            <a:endParaRPr sz="3650"/>
          </a:p>
          <a:p>
            <a:pPr indent="0" lvl="0" marL="5486400" rtl="0" algn="l">
              <a:spcBef>
                <a:spcPts val="0"/>
              </a:spcBef>
              <a:spcAft>
                <a:spcPts val="0"/>
              </a:spcAft>
              <a:buNone/>
            </a:pPr>
            <a:r>
              <a:t/>
            </a:r>
            <a:endParaRPr sz="3650"/>
          </a:p>
          <a:p>
            <a:pPr indent="0" lvl="0" marL="5486400" rtl="0" algn="l">
              <a:spcBef>
                <a:spcPts val="0"/>
              </a:spcBef>
              <a:spcAft>
                <a:spcPts val="0"/>
              </a:spcAft>
              <a:buNone/>
            </a:pPr>
            <a:r>
              <a:t/>
            </a:r>
            <a:endParaRPr sz="3650"/>
          </a:p>
          <a:p>
            <a:pPr indent="0" lvl="0" marL="0" rtl="0" algn="l">
              <a:spcBef>
                <a:spcPts val="0"/>
              </a:spcBef>
              <a:spcAft>
                <a:spcPts val="0"/>
              </a:spcAft>
              <a:buNone/>
            </a:pPr>
            <a:r>
              <a:t/>
            </a:r>
            <a:endParaRPr sz="3650"/>
          </a:p>
          <a:p>
            <a:pPr indent="0" lvl="0" marL="0" rtl="0" algn="l">
              <a:spcBef>
                <a:spcPts val="0"/>
              </a:spcBef>
              <a:spcAft>
                <a:spcPts val="0"/>
              </a:spcAft>
              <a:buNone/>
            </a:pPr>
            <a:r>
              <a:t/>
            </a:r>
            <a:endParaRPr sz="3650"/>
          </a:p>
          <a:p>
            <a:pPr indent="0" lvl="0" marL="0" rtl="0" algn="l">
              <a:spcBef>
                <a:spcPts val="0"/>
              </a:spcBef>
              <a:spcAft>
                <a:spcPts val="0"/>
              </a:spcAft>
              <a:buNone/>
            </a:pPr>
            <a:r>
              <a:t/>
            </a:r>
            <a:endParaRPr sz="3650"/>
          </a:p>
          <a:p>
            <a:pPr indent="457200" lvl="0" marL="5029200" rtl="0" algn="l">
              <a:spcBef>
                <a:spcPts val="0"/>
              </a:spcBef>
              <a:spcAft>
                <a:spcPts val="0"/>
              </a:spcAft>
              <a:buNone/>
            </a:pPr>
            <a:br>
              <a:rPr lang="en" sz="1800"/>
            </a:br>
            <a:br>
              <a:rPr lang="en" sz="1800"/>
            </a:br>
            <a:br>
              <a:rPr lang="en" sz="1800"/>
            </a:br>
            <a:br>
              <a:rPr lang="en" sz="1800"/>
            </a:br>
            <a:br>
              <a:rPr lang="en" sz="1800"/>
            </a:br>
            <a:br>
              <a:rPr lang="en" sz="1800"/>
            </a:br>
            <a:br>
              <a:rPr lang="en" sz="1800"/>
            </a:br>
            <a:br>
              <a:rPr lang="en" sz="1800"/>
            </a:br>
            <a:br>
              <a:rPr lang="en" sz="1800"/>
            </a:br>
            <a:br>
              <a:rPr lang="en" sz="1800"/>
            </a:br>
            <a:endParaRPr sz="1800"/>
          </a:p>
        </p:txBody>
      </p:sp>
      <p:pic>
        <p:nvPicPr>
          <p:cNvPr id="293" name="Google Shape;293;p46"/>
          <p:cNvPicPr preferRelativeResize="0"/>
          <p:nvPr/>
        </p:nvPicPr>
        <p:blipFill>
          <a:blip r:embed="rId3">
            <a:alphaModFix/>
          </a:blip>
          <a:stretch>
            <a:fillRect/>
          </a:stretch>
        </p:blipFill>
        <p:spPr>
          <a:xfrm>
            <a:off x="371575" y="1292851"/>
            <a:ext cx="4087050" cy="33759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7"/>
          <p:cNvSpPr txBox="1"/>
          <p:nvPr>
            <p:ph type="ctrTitle"/>
          </p:nvPr>
        </p:nvSpPr>
        <p:spPr>
          <a:xfrm>
            <a:off x="223625" y="223625"/>
            <a:ext cx="8735700" cy="11532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OOP - Polymorphism P1</a:t>
            </a:r>
            <a:endParaRPr sz="2900">
              <a:latin typeface="Montserrat"/>
              <a:ea typeface="Montserrat"/>
              <a:cs typeface="Montserrat"/>
              <a:sym typeface="Montserrat"/>
            </a:endParaRPr>
          </a:p>
        </p:txBody>
      </p:sp>
      <p:sp>
        <p:nvSpPr>
          <p:cNvPr id="299" name="Google Shape;299;p47"/>
          <p:cNvSpPr txBox="1"/>
          <p:nvPr>
            <p:ph idx="1" type="subTitle"/>
          </p:nvPr>
        </p:nvSpPr>
        <p:spPr>
          <a:xfrm>
            <a:off x="223625" y="1277675"/>
            <a:ext cx="8735700" cy="3642300"/>
          </a:xfrm>
          <a:prstGeom prst="rect">
            <a:avLst/>
          </a:prstGeom>
        </p:spPr>
        <p:txBody>
          <a:bodyPr anchorCtr="0" anchor="ctr" bIns="91425" lIns="91425" spcFirstLastPara="1" rIns="91425" wrap="square" tIns="91425">
            <a:normAutofit lnSpcReduction="20000"/>
          </a:bodyPr>
          <a:lstStyle/>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Polymorphism means designing objects to share behaviors. Using inheritance, objects can override shared parent behaviors with specific child behaviors. Polymorphism allows the same method to execute different behaviors in two ways: method overriding and method overloading.</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Polymorphism means "many forms", and it occurs when we have many classes that are related to each other by inheritance.</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lang="en" sz="1800"/>
              <a:t>Like we specified in the previous chapter; Inheritance lets us inherit fields and methods from another class. Polymorphism uses those methods to perform different tasks. This allows us to perform a single action in different ways.</a:t>
            </a:r>
            <a:endParaRPr sz="1800"/>
          </a:p>
          <a:p>
            <a:pPr indent="0" lvl="0" marL="457200" rtl="0" algn="l">
              <a:spcBef>
                <a:spcPts val="0"/>
              </a:spcBef>
              <a:spcAft>
                <a:spcPts val="0"/>
              </a:spcAft>
              <a:buNone/>
            </a:pPr>
            <a:r>
              <a:t/>
            </a:r>
            <a:endParaRPr sz="1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8"/>
          <p:cNvSpPr txBox="1"/>
          <p:nvPr>
            <p:ph type="ctrTitle"/>
          </p:nvPr>
        </p:nvSpPr>
        <p:spPr>
          <a:xfrm>
            <a:off x="223625" y="223625"/>
            <a:ext cx="8735700" cy="5520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  </a:t>
            </a:r>
            <a:r>
              <a:rPr lang="en" sz="2900">
                <a:latin typeface="Montserrat"/>
                <a:ea typeface="Montserrat"/>
                <a:cs typeface="Montserrat"/>
                <a:sym typeface="Montserrat"/>
              </a:rPr>
              <a:t>OOP - Polymorphism P2</a:t>
            </a:r>
            <a:endParaRPr sz="2900">
              <a:latin typeface="Montserrat"/>
              <a:ea typeface="Montserrat"/>
              <a:cs typeface="Montserrat"/>
              <a:sym typeface="Montserrat"/>
            </a:endParaRPr>
          </a:p>
        </p:txBody>
      </p:sp>
      <p:sp>
        <p:nvSpPr>
          <p:cNvPr id="305" name="Google Shape;305;p48"/>
          <p:cNvSpPr txBox="1"/>
          <p:nvPr>
            <p:ph idx="1" type="subTitle"/>
          </p:nvPr>
        </p:nvSpPr>
        <p:spPr>
          <a:xfrm>
            <a:off x="223625" y="775625"/>
            <a:ext cx="8735700" cy="4269900"/>
          </a:xfrm>
          <a:prstGeom prst="rect">
            <a:avLst/>
          </a:prstGeom>
        </p:spPr>
        <p:txBody>
          <a:bodyPr anchorCtr="0" anchor="ctr" bIns="91425" lIns="91425" spcFirstLastPara="1" rIns="91425" wrap="square" tIns="91425">
            <a:normAutofit/>
          </a:bodyPr>
          <a:lstStyle/>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1800"/>
          </a:p>
        </p:txBody>
      </p:sp>
      <p:pic>
        <p:nvPicPr>
          <p:cNvPr id="306" name="Google Shape;306;p48"/>
          <p:cNvPicPr preferRelativeResize="0"/>
          <p:nvPr/>
        </p:nvPicPr>
        <p:blipFill>
          <a:blip r:embed="rId3">
            <a:alphaModFix/>
          </a:blip>
          <a:stretch>
            <a:fillRect/>
          </a:stretch>
        </p:blipFill>
        <p:spPr>
          <a:xfrm>
            <a:off x="279975" y="957425"/>
            <a:ext cx="3895450" cy="1747125"/>
          </a:xfrm>
          <a:prstGeom prst="rect">
            <a:avLst/>
          </a:prstGeom>
          <a:noFill/>
          <a:ln>
            <a:noFill/>
          </a:ln>
        </p:spPr>
      </p:pic>
      <p:pic>
        <p:nvPicPr>
          <p:cNvPr id="307" name="Google Shape;307;p48"/>
          <p:cNvPicPr preferRelativeResize="0"/>
          <p:nvPr/>
        </p:nvPicPr>
        <p:blipFill>
          <a:blip r:embed="rId4">
            <a:alphaModFix/>
          </a:blip>
          <a:stretch>
            <a:fillRect/>
          </a:stretch>
        </p:blipFill>
        <p:spPr>
          <a:xfrm>
            <a:off x="4260135" y="819850"/>
            <a:ext cx="3039115" cy="1629750"/>
          </a:xfrm>
          <a:prstGeom prst="rect">
            <a:avLst/>
          </a:prstGeom>
          <a:noFill/>
          <a:ln>
            <a:noFill/>
          </a:ln>
        </p:spPr>
      </p:pic>
      <p:pic>
        <p:nvPicPr>
          <p:cNvPr id="308" name="Google Shape;308;p48"/>
          <p:cNvPicPr preferRelativeResize="0"/>
          <p:nvPr/>
        </p:nvPicPr>
        <p:blipFill>
          <a:blip r:embed="rId5">
            <a:alphaModFix/>
          </a:blip>
          <a:stretch>
            <a:fillRect/>
          </a:stretch>
        </p:blipFill>
        <p:spPr>
          <a:xfrm>
            <a:off x="279975" y="2886350"/>
            <a:ext cx="3766350" cy="1707150"/>
          </a:xfrm>
          <a:prstGeom prst="rect">
            <a:avLst/>
          </a:prstGeom>
          <a:noFill/>
          <a:ln>
            <a:noFill/>
          </a:ln>
        </p:spPr>
      </p:pic>
      <p:pic>
        <p:nvPicPr>
          <p:cNvPr id="309" name="Google Shape;309;p48"/>
          <p:cNvPicPr preferRelativeResize="0"/>
          <p:nvPr/>
        </p:nvPicPr>
        <p:blipFill>
          <a:blip r:embed="rId6">
            <a:alphaModFix/>
          </a:blip>
          <a:stretch>
            <a:fillRect/>
          </a:stretch>
        </p:blipFill>
        <p:spPr>
          <a:xfrm>
            <a:off x="4218200" y="2396176"/>
            <a:ext cx="2218675" cy="2540150"/>
          </a:xfrm>
          <a:prstGeom prst="rect">
            <a:avLst/>
          </a:prstGeom>
          <a:noFill/>
          <a:ln>
            <a:noFill/>
          </a:ln>
        </p:spPr>
      </p:pic>
      <p:sp>
        <p:nvSpPr>
          <p:cNvPr id="310" name="Google Shape;310;p48"/>
          <p:cNvSpPr txBox="1"/>
          <p:nvPr/>
        </p:nvSpPr>
        <p:spPr>
          <a:xfrm>
            <a:off x="1236950" y="1188050"/>
            <a:ext cx="4473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(1)</a:t>
            </a:r>
            <a:endParaRPr sz="1800">
              <a:solidFill>
                <a:schemeClr val="lt1"/>
              </a:solidFill>
              <a:latin typeface="Playfair Display"/>
              <a:ea typeface="Playfair Display"/>
              <a:cs typeface="Playfair Display"/>
              <a:sym typeface="Playfair Display"/>
            </a:endParaRPr>
          </a:p>
        </p:txBody>
      </p:sp>
      <p:sp>
        <p:nvSpPr>
          <p:cNvPr id="311" name="Google Shape;311;p48"/>
          <p:cNvSpPr txBox="1"/>
          <p:nvPr/>
        </p:nvSpPr>
        <p:spPr>
          <a:xfrm>
            <a:off x="5868950" y="1012000"/>
            <a:ext cx="447300" cy="3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(2)</a:t>
            </a:r>
            <a:endParaRPr sz="1800">
              <a:solidFill>
                <a:schemeClr val="lt1"/>
              </a:solidFill>
              <a:latin typeface="Playfair Display"/>
              <a:ea typeface="Playfair Display"/>
              <a:cs typeface="Playfair Display"/>
              <a:sym typeface="Playfair Display"/>
            </a:endParaRPr>
          </a:p>
        </p:txBody>
      </p:sp>
      <p:sp>
        <p:nvSpPr>
          <p:cNvPr id="312" name="Google Shape;312;p48"/>
          <p:cNvSpPr txBox="1"/>
          <p:nvPr/>
        </p:nvSpPr>
        <p:spPr>
          <a:xfrm>
            <a:off x="2065875" y="3060925"/>
            <a:ext cx="447300" cy="2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(3)</a:t>
            </a:r>
            <a:endParaRPr sz="1800">
              <a:solidFill>
                <a:schemeClr val="lt1"/>
              </a:solidFill>
              <a:latin typeface="Playfair Display"/>
              <a:ea typeface="Playfair Display"/>
              <a:cs typeface="Playfair Display"/>
              <a:sym typeface="Playfair Display"/>
            </a:endParaRPr>
          </a:p>
        </p:txBody>
      </p:sp>
      <p:sp>
        <p:nvSpPr>
          <p:cNvPr id="313" name="Google Shape;313;p48"/>
          <p:cNvSpPr txBox="1"/>
          <p:nvPr/>
        </p:nvSpPr>
        <p:spPr>
          <a:xfrm>
            <a:off x="5216325" y="2343750"/>
            <a:ext cx="447300" cy="2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(4)</a:t>
            </a:r>
            <a:endParaRPr sz="1800">
              <a:solidFill>
                <a:schemeClr val="lt1"/>
              </a:solidFill>
              <a:latin typeface="Playfair Display"/>
              <a:ea typeface="Playfair Display"/>
              <a:cs typeface="Playfair Display"/>
              <a:sym typeface="Playfair Display"/>
            </a:endParaRPr>
          </a:p>
        </p:txBody>
      </p:sp>
      <p:sp>
        <p:nvSpPr>
          <p:cNvPr id="314" name="Google Shape;314;p48"/>
          <p:cNvSpPr txBox="1"/>
          <p:nvPr/>
        </p:nvSpPr>
        <p:spPr>
          <a:xfrm>
            <a:off x="7030375" y="3158775"/>
            <a:ext cx="1754100" cy="162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Roboto"/>
                <a:ea typeface="Roboto"/>
                <a:cs typeface="Roboto"/>
                <a:sym typeface="Roboto"/>
              </a:rPr>
              <a:t>Explanation:</a:t>
            </a:r>
            <a:br>
              <a:rPr lang="en" sz="800">
                <a:solidFill>
                  <a:schemeClr val="lt1"/>
                </a:solidFill>
                <a:latin typeface="Roboto"/>
                <a:ea typeface="Roboto"/>
                <a:cs typeface="Roboto"/>
                <a:sym typeface="Roboto"/>
              </a:rPr>
            </a:br>
            <a:br>
              <a:rPr lang="en" sz="800">
                <a:solidFill>
                  <a:schemeClr val="lt1"/>
                </a:solidFill>
                <a:latin typeface="Roboto"/>
                <a:ea typeface="Roboto"/>
                <a:cs typeface="Roboto"/>
                <a:sym typeface="Roboto"/>
              </a:rPr>
            </a:br>
            <a:r>
              <a:rPr lang="en" sz="800">
                <a:solidFill>
                  <a:schemeClr val="lt1"/>
                </a:solidFill>
                <a:latin typeface="Roboto"/>
                <a:ea typeface="Roboto"/>
                <a:cs typeface="Roboto"/>
                <a:sym typeface="Roboto"/>
              </a:rPr>
              <a:t>This example showcases polymorphic behavior where the same method name (</a:t>
            </a:r>
            <a:r>
              <a:rPr lang="en" sz="800">
                <a:solidFill>
                  <a:schemeClr val="lt1"/>
                </a:solidFill>
                <a:latin typeface="Courier New"/>
                <a:ea typeface="Courier New"/>
                <a:cs typeface="Courier New"/>
                <a:sym typeface="Courier New"/>
              </a:rPr>
              <a:t>DisplayInfo()</a:t>
            </a:r>
            <a:r>
              <a:rPr lang="en" sz="800">
                <a:solidFill>
                  <a:schemeClr val="lt1"/>
                </a:solidFill>
                <a:latin typeface="Roboto"/>
                <a:ea typeface="Roboto"/>
                <a:cs typeface="Roboto"/>
                <a:sym typeface="Roboto"/>
              </a:rPr>
              <a:t>) is invoked on different objects of related types, and the appropriate method implementation is executed based on the actual type of each object.</a:t>
            </a:r>
            <a:endParaRPr sz="800">
              <a:solidFill>
                <a:schemeClr val="lt1"/>
              </a:solidFill>
              <a:latin typeface="Playfair Display"/>
              <a:ea typeface="Playfair Display"/>
              <a:cs typeface="Playfair Display"/>
              <a:sym typeface="Playfair Display"/>
            </a:endParaRPr>
          </a:p>
        </p:txBody>
      </p:sp>
      <p:sp>
        <p:nvSpPr>
          <p:cNvPr id="315" name="Google Shape;315;p48"/>
          <p:cNvSpPr txBox="1"/>
          <p:nvPr/>
        </p:nvSpPr>
        <p:spPr>
          <a:xfrm>
            <a:off x="7926500" y="3060925"/>
            <a:ext cx="447300" cy="2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layfair Display"/>
                <a:ea typeface="Playfair Display"/>
                <a:cs typeface="Playfair Display"/>
                <a:sym typeface="Playfair Display"/>
              </a:rPr>
              <a:t>(5)</a:t>
            </a:r>
            <a:endParaRPr sz="1800">
              <a:solidFill>
                <a:schemeClr val="lt1"/>
              </a:solidFill>
              <a:latin typeface="Playfair Display"/>
              <a:ea typeface="Playfair Display"/>
              <a:cs typeface="Playfair Display"/>
              <a:sym typeface="Playfair Display"/>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9"/>
          <p:cNvSpPr txBox="1"/>
          <p:nvPr>
            <p:ph type="ctrTitle"/>
          </p:nvPr>
        </p:nvSpPr>
        <p:spPr>
          <a:xfrm>
            <a:off x="223625" y="223625"/>
            <a:ext cx="8735700" cy="6081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Extras P1</a:t>
            </a:r>
            <a:endParaRPr sz="2900">
              <a:latin typeface="Montserrat"/>
              <a:ea typeface="Montserrat"/>
              <a:cs typeface="Montserrat"/>
              <a:sym typeface="Montserrat"/>
            </a:endParaRPr>
          </a:p>
        </p:txBody>
      </p:sp>
      <p:sp>
        <p:nvSpPr>
          <p:cNvPr id="321" name="Google Shape;321;p49"/>
          <p:cNvSpPr txBox="1"/>
          <p:nvPr>
            <p:ph idx="1" type="subTitle"/>
          </p:nvPr>
        </p:nvSpPr>
        <p:spPr>
          <a:xfrm>
            <a:off x="223625" y="803675"/>
            <a:ext cx="8735700" cy="4269900"/>
          </a:xfrm>
          <a:prstGeom prst="rect">
            <a:avLst/>
          </a:prstGeom>
        </p:spPr>
        <p:txBody>
          <a:bodyPr anchorCtr="0" anchor="ctr" bIns="91425" lIns="91425" spcFirstLastPara="1" rIns="91425" wrap="square" tIns="91425">
            <a:normAutofit fontScale="85000" lnSpcReduction="20000"/>
          </a:bodyPr>
          <a:lstStyle/>
          <a:p>
            <a:pPr indent="0" lvl="0" marL="457200" rtl="0" algn="l">
              <a:spcBef>
                <a:spcPts val="0"/>
              </a:spcBef>
              <a:spcAft>
                <a:spcPts val="0"/>
              </a:spcAft>
              <a:buNone/>
            </a:pPr>
            <a:r>
              <a:t/>
            </a:r>
            <a:endParaRPr sz="1800"/>
          </a:p>
          <a:p>
            <a:pPr indent="0" lvl="0" marL="0" rtl="0" algn="l">
              <a:spcBef>
                <a:spcPts val="0"/>
              </a:spcBef>
              <a:spcAft>
                <a:spcPts val="0"/>
              </a:spcAft>
              <a:buNone/>
            </a:pPr>
            <a:r>
              <a:rPr lang="en" sz="1800"/>
              <a:t>Design Patterns:</a:t>
            </a:r>
            <a:br>
              <a:rPr lang="en" sz="1800"/>
            </a:br>
            <a:endParaRPr sz="1800"/>
          </a:p>
          <a:p>
            <a:pPr indent="-325755" lvl="0" marL="457200" rtl="0" algn="l">
              <a:spcBef>
                <a:spcPts val="0"/>
              </a:spcBef>
              <a:spcAft>
                <a:spcPts val="0"/>
              </a:spcAft>
              <a:buSzPct val="100000"/>
              <a:buChar char="●"/>
            </a:pPr>
            <a:r>
              <a:rPr lang="en" sz="1800"/>
              <a:t>Design patterns are recurring solutions to common problems in software design. They often leverage principles of inheritance and polymorphism. Examples include the Singleton pattern, Factory pattern, and Observer pattern.</a:t>
            </a:r>
            <a:endParaRPr sz="1800"/>
          </a:p>
          <a:p>
            <a:pPr indent="0" lvl="0" marL="0" rtl="0" algn="l">
              <a:spcBef>
                <a:spcPts val="0"/>
              </a:spcBef>
              <a:spcAft>
                <a:spcPts val="0"/>
              </a:spcAft>
              <a:buNone/>
            </a:pPr>
            <a:br>
              <a:rPr lang="en" sz="1800"/>
            </a:br>
            <a:r>
              <a:rPr lang="en" sz="1800"/>
              <a:t>Multiple Inheritance:</a:t>
            </a:r>
            <a:endParaRPr sz="1800"/>
          </a:p>
          <a:p>
            <a:pPr indent="0" lvl="0" marL="91440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Some programming languages, like C++ and Python, support multiple inheritance, allowing a class to inherit from more than one parent class. However, multiple inheritance can lead to complexities and is not supported in languages like Java to maintain simplicity.</a:t>
            </a:r>
            <a:endParaRPr sz="1800"/>
          </a:p>
          <a:p>
            <a:pPr indent="-325755" lvl="0" marL="457200" rtl="0" algn="l">
              <a:spcBef>
                <a:spcPts val="0"/>
              </a:spcBef>
              <a:spcAft>
                <a:spcPts val="0"/>
              </a:spcAft>
              <a:buSzPct val="100000"/>
              <a:buChar char="●"/>
            </a:pPr>
            <a:r>
              <a:rPr lang="en" sz="1800"/>
              <a:t>In C# Multiple inheritance can only be used via Interfaces and not classes</a:t>
            </a:r>
            <a:br>
              <a:rPr lang="en" sz="1800"/>
            </a:br>
            <a:endParaRPr sz="1800"/>
          </a:p>
          <a:p>
            <a:pPr indent="0" lvl="0" marL="0" rtl="0" algn="l">
              <a:spcBef>
                <a:spcPts val="0"/>
              </a:spcBef>
              <a:spcAft>
                <a:spcPts val="0"/>
              </a:spcAft>
              <a:buNone/>
            </a:pPr>
            <a:r>
              <a:rPr lang="en" sz="1800"/>
              <a:t>Composition over Inheritance:</a:t>
            </a:r>
            <a:endParaRPr sz="1800"/>
          </a:p>
          <a:p>
            <a:pPr indent="0" lvl="0" marL="914400" rtl="0" algn="l">
              <a:spcBef>
                <a:spcPts val="0"/>
              </a:spcBef>
              <a:spcAft>
                <a:spcPts val="0"/>
              </a:spcAft>
              <a:buNone/>
            </a:pPr>
            <a:r>
              <a:t/>
            </a:r>
            <a:endParaRPr sz="1800"/>
          </a:p>
          <a:p>
            <a:pPr indent="-325755" lvl="0" marL="457200" rtl="0" algn="l">
              <a:spcBef>
                <a:spcPts val="0"/>
              </a:spcBef>
              <a:spcAft>
                <a:spcPts val="0"/>
              </a:spcAft>
              <a:buSzPct val="100000"/>
              <a:buChar char="●"/>
            </a:pPr>
            <a:r>
              <a:rPr lang="en" sz="1800"/>
              <a:t>The principle of "composition over inheritance" suggests that it's often preferable to compose objects rather than inherit from them. This promotes flexibility, code reuse, and avoids some of the issues associated with deep class hierarchies.</a:t>
            </a:r>
            <a:endParaRPr sz="1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0"/>
          <p:cNvSpPr txBox="1"/>
          <p:nvPr>
            <p:ph type="ctrTitle"/>
          </p:nvPr>
        </p:nvSpPr>
        <p:spPr>
          <a:xfrm>
            <a:off x="223625" y="223625"/>
            <a:ext cx="8735700" cy="608100"/>
          </a:xfrm>
          <a:prstGeom prst="rect">
            <a:avLst/>
          </a:prstGeom>
        </p:spPr>
        <p:txBody>
          <a:bodyPr anchorCtr="0" anchor="ctr" bIns="91425" lIns="91425" spcFirstLastPara="1" rIns="91425" wrap="square" tIns="91425">
            <a:noAutofit/>
          </a:bodyPr>
          <a:lstStyle/>
          <a:p>
            <a:pPr indent="0" lvl="0" marL="914400" rtl="0" algn="l">
              <a:spcBef>
                <a:spcPts val="0"/>
              </a:spcBef>
              <a:spcAft>
                <a:spcPts val="0"/>
              </a:spcAft>
              <a:buNone/>
            </a:pPr>
            <a:r>
              <a:rPr lang="en" sz="2900">
                <a:latin typeface="Montserrat"/>
                <a:ea typeface="Montserrat"/>
                <a:cs typeface="Montserrat"/>
                <a:sym typeface="Montserrat"/>
              </a:rPr>
              <a:t>Additional Resources</a:t>
            </a:r>
            <a:endParaRPr sz="2900">
              <a:latin typeface="Montserrat"/>
              <a:ea typeface="Montserrat"/>
              <a:cs typeface="Montserrat"/>
              <a:sym typeface="Montserrat"/>
            </a:endParaRPr>
          </a:p>
        </p:txBody>
      </p:sp>
      <p:sp>
        <p:nvSpPr>
          <p:cNvPr id="327" name="Google Shape;327;p50"/>
          <p:cNvSpPr txBox="1"/>
          <p:nvPr>
            <p:ph idx="1" type="subTitle"/>
          </p:nvPr>
        </p:nvSpPr>
        <p:spPr>
          <a:xfrm>
            <a:off x="223625" y="803675"/>
            <a:ext cx="8735700" cy="42699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1800"/>
              <a:t>Below you can find additional resources to assist you in your journey of </a:t>
            </a:r>
            <a:r>
              <a:rPr lang="en" sz="1800"/>
              <a:t>learning to </a:t>
            </a:r>
            <a:r>
              <a:rPr lang="en" sz="1800"/>
              <a:t>understanding OOP</a:t>
            </a:r>
            <a:br>
              <a:rPr lang="en" sz="1800"/>
            </a:br>
            <a:endParaRPr sz="1800"/>
          </a:p>
          <a:p>
            <a:pPr indent="-342900" lvl="0" marL="914400" rtl="0" algn="l">
              <a:spcBef>
                <a:spcPts val="0"/>
              </a:spcBef>
              <a:spcAft>
                <a:spcPts val="0"/>
              </a:spcAft>
              <a:buSzPts val="1800"/>
              <a:buChar char="●"/>
            </a:pPr>
            <a:r>
              <a:rPr lang="en" sz="1800" u="sng">
                <a:solidFill>
                  <a:schemeClr val="hlink"/>
                </a:solidFill>
                <a:hlinkClick r:id="rId3"/>
              </a:rPr>
              <a:t>https://learn.microsoft.com/en-us/dotnet/csharp/fundamentals/tutorials/oop</a:t>
            </a:r>
            <a:endParaRPr sz="1800"/>
          </a:p>
          <a:p>
            <a:pPr indent="-342900" lvl="0" marL="914400" rtl="0" algn="l">
              <a:spcBef>
                <a:spcPts val="0"/>
              </a:spcBef>
              <a:spcAft>
                <a:spcPts val="0"/>
              </a:spcAft>
              <a:buSzPts val="1800"/>
              <a:buChar char="●"/>
            </a:pPr>
            <a:r>
              <a:rPr lang="en" sz="1800" u="sng">
                <a:solidFill>
                  <a:schemeClr val="hlink"/>
                </a:solidFill>
                <a:hlinkClick r:id="rId4"/>
              </a:rPr>
              <a:t>https://www.geeksforgeeks.org/introduction-of-object-oriented-programming/</a:t>
            </a:r>
            <a:endParaRPr sz="1800"/>
          </a:p>
          <a:p>
            <a:pPr indent="-342900" lvl="0" marL="914400" rtl="0" algn="l">
              <a:spcBef>
                <a:spcPts val="0"/>
              </a:spcBef>
              <a:spcAft>
                <a:spcPts val="0"/>
              </a:spcAft>
              <a:buSzPts val="1800"/>
              <a:buChar char="●"/>
            </a:pPr>
            <a:r>
              <a:rPr lang="en" sz="1800" u="sng">
                <a:solidFill>
                  <a:schemeClr val="hlink"/>
                </a:solidFill>
                <a:hlinkClick r:id="rId5"/>
              </a:rPr>
              <a:t>https://stackify.com/oop-concept-abstraction/</a:t>
            </a:r>
            <a:endParaRPr sz="1800"/>
          </a:p>
          <a:p>
            <a:pPr indent="-342900" lvl="0" marL="914400" rtl="0" algn="l">
              <a:spcBef>
                <a:spcPts val="0"/>
              </a:spcBef>
              <a:spcAft>
                <a:spcPts val="0"/>
              </a:spcAft>
              <a:buSzPts val="1800"/>
              <a:buChar char="●"/>
            </a:pPr>
            <a:r>
              <a:rPr lang="en" sz="1800" u="sng">
                <a:solidFill>
                  <a:schemeClr val="hlink"/>
                </a:solidFill>
                <a:hlinkClick r:id="rId6"/>
              </a:rPr>
              <a:t>https://www.panonit.com/blog/overview-message-passing-object-oriented-programming</a:t>
            </a:r>
            <a:endParaRPr sz="1800"/>
          </a:p>
          <a:p>
            <a:pPr indent="-342900" lvl="0" marL="914400" rtl="0" algn="l">
              <a:spcBef>
                <a:spcPts val="0"/>
              </a:spcBef>
              <a:spcAft>
                <a:spcPts val="0"/>
              </a:spcAft>
              <a:buSzPts val="1800"/>
              <a:buChar char="●"/>
            </a:pPr>
            <a:r>
              <a:rPr lang="en" sz="1800" u="sng">
                <a:solidFill>
                  <a:schemeClr val="hlink"/>
                </a:solidFill>
                <a:hlinkClick r:id="rId7"/>
              </a:rPr>
              <a:t>https://shahedbd.medium.com/composition-c-example-d679244b2eac</a:t>
            </a:r>
            <a:endParaRPr sz="1800"/>
          </a:p>
          <a:p>
            <a:pPr indent="-342900" lvl="0" marL="914400" rtl="0" algn="l">
              <a:spcBef>
                <a:spcPts val="0"/>
              </a:spcBef>
              <a:spcAft>
                <a:spcPts val="0"/>
              </a:spcAft>
              <a:buSzPts val="1800"/>
              <a:buChar char="●"/>
            </a:pPr>
            <a:r>
              <a:rPr lang="en" sz="1800" u="sng">
                <a:solidFill>
                  <a:schemeClr val="hlink"/>
                </a:solidFill>
                <a:hlinkClick r:id="rId8"/>
              </a:rPr>
              <a:t>https://www.w3schools.com/cs/cs_access_modifiers.php</a:t>
            </a:r>
            <a:endParaRPr sz="1800"/>
          </a:p>
          <a:p>
            <a:pPr indent="-342900" lvl="0" marL="914400" rtl="0" algn="l">
              <a:spcBef>
                <a:spcPts val="0"/>
              </a:spcBef>
              <a:spcAft>
                <a:spcPts val="0"/>
              </a:spcAft>
              <a:buSzPts val="1800"/>
              <a:buChar char="●"/>
            </a:pPr>
            <a:r>
              <a:rPr lang="en" sz="1800" u="sng">
                <a:solidFill>
                  <a:schemeClr val="hlink"/>
                </a:solidFill>
                <a:hlinkClick r:id="rId9"/>
              </a:rPr>
              <a:t>https://www.educative.io/blog/object-oriented-programming</a:t>
            </a:r>
            <a:endParaRPr sz="1800"/>
          </a:p>
          <a:p>
            <a:pPr indent="0" lvl="0" marL="914400" rtl="0" algn="l">
              <a:spcBef>
                <a:spcPts val="0"/>
              </a:spcBef>
              <a:spcAft>
                <a:spcPts val="0"/>
              </a:spcAft>
              <a:buNone/>
            </a:pPr>
            <a:r>
              <a:t/>
            </a:r>
            <a:endParaRPr sz="1800"/>
          </a:p>
          <a:p>
            <a:pPr indent="0" lvl="0" marL="914400" rtl="0" algn="l">
              <a:spcBef>
                <a:spcPts val="0"/>
              </a:spcBef>
              <a:spcAft>
                <a:spcPts val="0"/>
              </a:spcAft>
              <a:buNone/>
            </a:pPr>
            <a:r>
              <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1"/>
          <p:cNvSpPr txBox="1"/>
          <p:nvPr>
            <p:ph type="ctrTitle"/>
          </p:nvPr>
        </p:nvSpPr>
        <p:spPr>
          <a:xfrm>
            <a:off x="429600" y="422800"/>
            <a:ext cx="8284800" cy="149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000"/>
              <a:t>The End</a:t>
            </a:r>
            <a:endParaRPr sz="4000"/>
          </a:p>
        </p:txBody>
      </p:sp>
      <p:sp>
        <p:nvSpPr>
          <p:cNvPr id="333" name="Google Shape;333;p51"/>
          <p:cNvSpPr txBox="1"/>
          <p:nvPr>
            <p:ph idx="1" type="subTitle"/>
          </p:nvPr>
        </p:nvSpPr>
        <p:spPr>
          <a:xfrm>
            <a:off x="311700" y="2111975"/>
            <a:ext cx="8520600" cy="2652300"/>
          </a:xfrm>
          <a:prstGeom prst="rect">
            <a:avLst/>
          </a:prstGeom>
        </p:spPr>
        <p:txBody>
          <a:bodyPr anchorCtr="0" anchor="ctr" bIns="91425" lIns="91425" spcFirstLastPara="1" rIns="91425" wrap="square" tIns="91425">
            <a:normAutofit/>
          </a:bodyPr>
          <a:lstStyle/>
          <a:p>
            <a:pPr indent="457200" lvl="0" marL="1371600" rtl="0" algn="l">
              <a:spcBef>
                <a:spcPts val="0"/>
              </a:spcBef>
              <a:spcAft>
                <a:spcPts val="0"/>
              </a:spcAft>
              <a:buNone/>
            </a:pPr>
            <a:r>
              <a:rPr lang="en"/>
              <a:t>Join Me in the next module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