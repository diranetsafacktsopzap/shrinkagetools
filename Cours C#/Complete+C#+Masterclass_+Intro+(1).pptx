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Playfair Display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regular.fntdata"/><Relationship Id="rId22" Type="http://schemas.openxmlformats.org/officeDocument/2006/relationships/font" Target="fonts/PlayfairDisplay-italic.fntdata"/><Relationship Id="rId21" Type="http://schemas.openxmlformats.org/officeDocument/2006/relationships/font" Target="fonts/PlayfairDisplay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PlayfairDispl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Oswald-regular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ad72beef7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ad72beef7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b1b1ab1c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b1b1ab1c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ad72beef74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ad72beef7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ad72beef7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ad72beef7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ad72beef7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ad72beef7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d72beef7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ad72beef7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ad72beef7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ad72beef7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ad72beef7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ad72beef7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ad72beef7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ad72beef7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ad72beef7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ad72beef7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ad72beef74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ad72beef74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ad72beef74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ad72beef7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ae96eb73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ae96eb73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mailto:Martinkleinbooi@gmail.com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visualstudio.microsoft.com/vs/community/" TargetMode="External"/><Relationship Id="rId4" Type="http://schemas.openxmlformats.org/officeDocument/2006/relationships/hyperlink" Target="https://code.visualstudio.com/download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docker.com/products/docker-desktop/" TargetMode="External"/><Relationship Id="rId4" Type="http://schemas.openxmlformats.org/officeDocument/2006/relationships/hyperlink" Target="https://notepad-plus-plus.org/downloads/" TargetMode="External"/><Relationship Id="rId5" Type="http://schemas.openxmlformats.org/officeDocument/2006/relationships/hyperlink" Target="https://learn.microsoft.com/en-us/azure-data-studio/download-azure-data-studio?tabs=win-install%2Cwin-user-install%2Credhat-install%2Cwindows-uninstall%2Credhat-uninstall" TargetMode="External"/><Relationship Id="rId6" Type="http://schemas.openxmlformats.org/officeDocument/2006/relationships/hyperlink" Target="https://www.git-scm.com/downloads" TargetMode="External"/><Relationship Id="rId7" Type="http://schemas.openxmlformats.org/officeDocument/2006/relationships/hyperlink" Target="https://tortoisegit.org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 C# Masterclass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5083950" y="3924925"/>
            <a:ext cx="3725400" cy="8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 from Zero to</a:t>
            </a:r>
            <a:r>
              <a:rPr b="1" lang="en"/>
              <a:t> </a:t>
            </a:r>
            <a:r>
              <a:rPr lang="en"/>
              <a:t>Coding Hero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ctrTitle"/>
          </p:nvPr>
        </p:nvSpPr>
        <p:spPr>
          <a:xfrm>
            <a:off x="311700" y="456575"/>
            <a:ext cx="8520600" cy="8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311700" y="1277675"/>
            <a:ext cx="8520600" cy="360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Ice Breaker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the course will cover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the course won’t cover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Installing Visual Studio Code + Visual Studio Community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Hello World Program - Console new school and old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Visual Studio Walk through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to do if you get stuck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How this course will help you become employable in the software developer / engineer space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different thing you can build with C# and .NET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ctrTitle"/>
          </p:nvPr>
        </p:nvSpPr>
        <p:spPr>
          <a:xfrm>
            <a:off x="311700" y="456575"/>
            <a:ext cx="8520600" cy="8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Code</a:t>
            </a:r>
            <a:endParaRPr/>
          </a:p>
        </p:txBody>
      </p:sp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311700" y="1277675"/>
            <a:ext cx="8520600" cy="360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25000" lnSpcReduction="2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45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776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776"/>
          </a:p>
          <a:p>
            <a:pPr indent="-33617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6776"/>
              <a:t>use command `git clone https://github.com/YoungMiGo123/DEV-ZeroToHero.git` in a command line or bash terminal</a:t>
            </a:r>
            <a:endParaRPr sz="6776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776"/>
          </a:p>
          <a:p>
            <a:pPr indent="-33617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6776"/>
              <a:t>Open up the solution once downloaded, by clicking on the ZeroToHeroMasterClass.sln</a:t>
            </a:r>
            <a:br>
              <a:rPr lang="en" sz="6776"/>
            </a:br>
            <a:br>
              <a:rPr lang="en" sz="6776"/>
            </a:br>
            <a:endParaRPr sz="6776"/>
          </a:p>
          <a:p>
            <a:pPr indent="-33617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776"/>
              <a:t>You will find this module source code under the module 1 folder </a:t>
            </a:r>
            <a:endParaRPr sz="6776"/>
          </a:p>
          <a:p>
            <a:pPr indent="-33617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6776"/>
              <a:t>ZeroToHero.HelloWorld</a:t>
            </a:r>
            <a:endParaRPr sz="6776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24606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Char char="●"/>
            </a:pPr>
            <a:r>
              <a:t/>
            </a:r>
            <a:endParaRPr sz="18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ctrTitle"/>
          </p:nvPr>
        </p:nvSpPr>
        <p:spPr>
          <a:xfrm>
            <a:off x="311700" y="744575"/>
            <a:ext cx="8520600" cy="92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Ice Breaker</a:t>
            </a:r>
            <a:endParaRPr/>
          </a:p>
        </p:txBody>
      </p:sp>
      <p:sp>
        <p:nvSpPr>
          <p:cNvPr id="77" name="Google Shape;77;p16"/>
          <p:cNvSpPr txBox="1"/>
          <p:nvPr>
            <p:ph idx="1" type="subTitle"/>
          </p:nvPr>
        </p:nvSpPr>
        <p:spPr>
          <a:xfrm>
            <a:off x="256575" y="2490475"/>
            <a:ext cx="8520600" cy="23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I am a Senior Software Engineer with 6 years of experience, specializing in the Fintech space. Worked for Several Major Companies including Ozow, FNZ, and Brightrock. Currently Consulting at Dariel.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I have a BSC degree in Computer Science &amp; Information Systems from Rhodes University. I am from South Africa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Azure &amp; AWS Certified.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Have been teaching Computer Science since university, including having lecturers at multiple Universities.</a:t>
            </a:r>
            <a:endParaRPr sz="1800"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6075" y="223200"/>
            <a:ext cx="1723850" cy="17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311700" y="1785525"/>
            <a:ext cx="4245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</a:rPr>
              <a:t>A little bit about me: </a:t>
            </a:r>
            <a:endParaRPr b="1" sz="2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ctrTitle"/>
          </p:nvPr>
        </p:nvSpPr>
        <p:spPr>
          <a:xfrm>
            <a:off x="250825" y="175050"/>
            <a:ext cx="8581500" cy="121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00"/>
              <a:t>What the course will cover</a:t>
            </a:r>
            <a:endParaRPr sz="4000"/>
          </a:p>
        </p:txBody>
      </p:sp>
      <p:sp>
        <p:nvSpPr>
          <p:cNvPr id="85" name="Google Shape;85;p17"/>
          <p:cNvSpPr txBox="1"/>
          <p:nvPr>
            <p:ph idx="1" type="subTitle"/>
          </p:nvPr>
        </p:nvSpPr>
        <p:spPr>
          <a:xfrm>
            <a:off x="311700" y="1427225"/>
            <a:ext cx="8520600" cy="352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/>
          </a:bodyPr>
          <a:lstStyle/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600"/>
              <a:t>This course is focused on developing your soft + hard skills as a software engineer</a:t>
            </a:r>
            <a:endParaRPr sz="1600"/>
          </a:p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600"/>
              <a:t>Learn how to develop your problem solving skills </a:t>
            </a:r>
            <a:endParaRPr sz="1600"/>
          </a:p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600"/>
              <a:t>Learn how to build a system from scratch, to working end to end</a:t>
            </a:r>
            <a:endParaRPr sz="1600"/>
          </a:p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600"/>
              <a:t>Learn how the full development life cycle and how it works</a:t>
            </a:r>
            <a:endParaRPr sz="1600"/>
          </a:p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600"/>
              <a:t>How to go about landing your dream job in the Software Development Space</a:t>
            </a:r>
            <a:endParaRPr sz="1600"/>
          </a:p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600"/>
              <a:t>Provide you with all the skills and knowledge you need to become a successful software engineer</a:t>
            </a:r>
            <a:endParaRPr sz="1600"/>
          </a:p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600"/>
              <a:t>From a technical perspective this course will touch on quite a few topics. Some of the topics will be on: OOP, DI, Best practices, API design, design patterns, basics of SQL and Docker, Entity Framework, Libraries, Git / Github, Azure. To mention a few.</a:t>
            </a:r>
            <a:endParaRPr sz="1600"/>
          </a:p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600"/>
              <a:t>Note: To get the most out of this course, make sure you follow along and do the coding exercise. Please note there is also a community on our social platforms like Facebook, Whatsapp and LinkedIn. I will provide you with the links later in the course</a:t>
            </a:r>
            <a:endParaRPr sz="1600"/>
          </a:p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600"/>
              <a:t>If you need anything else, please do not hesitate to </a:t>
            </a:r>
            <a:r>
              <a:rPr b="1" lang="en" sz="1600">
                <a:solidFill>
                  <a:schemeClr val="dk1"/>
                </a:solidFill>
              </a:rPr>
              <a:t>Email me at </a:t>
            </a:r>
            <a:r>
              <a:rPr b="1" lang="en" sz="1600" u="sng">
                <a:solidFill>
                  <a:schemeClr val="hlink"/>
                </a:solidFill>
                <a:hlinkClick r:id="rId3"/>
              </a:rPr>
              <a:t>Martinkleinbooi@gmail.com</a:t>
            </a:r>
            <a:r>
              <a:rPr b="1" lang="en" sz="1600"/>
              <a:t> - </a:t>
            </a:r>
            <a:r>
              <a:rPr b="1" lang="en" sz="1600">
                <a:solidFill>
                  <a:schemeClr val="dk1"/>
                </a:solidFill>
              </a:rPr>
              <a:t>I will try my best to respond in a timely manner</a:t>
            </a:r>
            <a:endParaRPr b="1"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ctrTitle"/>
          </p:nvPr>
        </p:nvSpPr>
        <p:spPr>
          <a:xfrm>
            <a:off x="239550" y="456575"/>
            <a:ext cx="8592900" cy="108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What the course won’t cover</a:t>
            </a:r>
            <a:endParaRPr sz="4000"/>
          </a:p>
        </p:txBody>
      </p:sp>
      <p:sp>
        <p:nvSpPr>
          <p:cNvPr id="91" name="Google Shape;91;p18"/>
          <p:cNvSpPr txBox="1"/>
          <p:nvPr>
            <p:ph idx="1" type="subTitle"/>
          </p:nvPr>
        </p:nvSpPr>
        <p:spPr>
          <a:xfrm>
            <a:off x="311700" y="1482350"/>
            <a:ext cx="8520600" cy="34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Deep dive into cloud tech with Azure or AWS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Game development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Deep dive into Advanced programming concepts like reflection, CI/CD pipelines, Kubernetes, Multi-Tenant solutions or </a:t>
            </a:r>
            <a:r>
              <a:rPr lang="en" sz="1800"/>
              <a:t>Parallel</a:t>
            </a:r>
            <a:r>
              <a:rPr lang="en" sz="1800"/>
              <a:t> programming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Networking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This course is focused on Junior - Intermediate students, there is a lot of useful information for Seniors as well but for more advanced topics please refer to additional courses on Udemy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ctrTitle"/>
          </p:nvPr>
        </p:nvSpPr>
        <p:spPr>
          <a:xfrm>
            <a:off x="248700" y="400275"/>
            <a:ext cx="8583600" cy="128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880"/>
              <a:t>Installing Visual Studio Code + Visual Studio Community </a:t>
            </a:r>
            <a:endParaRPr sz="3880"/>
          </a:p>
        </p:txBody>
      </p:sp>
      <p:sp>
        <p:nvSpPr>
          <p:cNvPr id="97" name="Google Shape;97;p19"/>
          <p:cNvSpPr txBox="1"/>
          <p:nvPr>
            <p:ph idx="1" type="subTitle"/>
          </p:nvPr>
        </p:nvSpPr>
        <p:spPr>
          <a:xfrm>
            <a:off x="248700" y="1779150"/>
            <a:ext cx="8520600" cy="231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If you do not already have the environment setup please download visual studio code and visual studio community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Visual Studio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Visual Studio Code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Make sure you install the tools and latest frameworks, I will do a short demo on what you will need.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ctrTitle"/>
          </p:nvPr>
        </p:nvSpPr>
        <p:spPr>
          <a:xfrm>
            <a:off x="194500" y="276400"/>
            <a:ext cx="8637900" cy="129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Additional Tools: Optional</a:t>
            </a:r>
            <a:endParaRPr sz="4000"/>
          </a:p>
        </p:txBody>
      </p:sp>
      <p:sp>
        <p:nvSpPr>
          <p:cNvPr id="103" name="Google Shape;103;p20"/>
          <p:cNvSpPr txBox="1"/>
          <p:nvPr>
            <p:ph idx="1" type="subTitle"/>
          </p:nvPr>
        </p:nvSpPr>
        <p:spPr>
          <a:xfrm>
            <a:off x="311700" y="1671375"/>
            <a:ext cx="8520600" cy="31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Below are some useful tools you should consider downloading as well, they will be used throughout the course.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Docker</a:t>
            </a:r>
            <a:r>
              <a:rPr lang="en" sz="1800"/>
              <a:t>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Notepad++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 u="sng">
                <a:solidFill>
                  <a:schemeClr val="hlink"/>
                </a:solidFill>
                <a:hlinkClick r:id="rId5"/>
              </a:rPr>
              <a:t>Azure Data Studio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 u="sng">
                <a:solidFill>
                  <a:schemeClr val="hlink"/>
                </a:solidFill>
                <a:hlinkClick r:id="rId6"/>
              </a:rPr>
              <a:t>Git Bash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 u="sng">
                <a:solidFill>
                  <a:schemeClr val="hlink"/>
                </a:solidFill>
                <a:hlinkClick r:id="rId7"/>
              </a:rPr>
              <a:t>Git Tortoise</a:t>
            </a:r>
            <a:r>
              <a:rPr lang="en" sz="1800"/>
              <a:t> 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ctrTitle"/>
          </p:nvPr>
        </p:nvSpPr>
        <p:spPr>
          <a:xfrm>
            <a:off x="344250" y="615575"/>
            <a:ext cx="8455500" cy="16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 World</a:t>
            </a:r>
            <a:endParaRPr/>
          </a:p>
        </p:txBody>
      </p:sp>
      <p:sp>
        <p:nvSpPr>
          <p:cNvPr id="109" name="Google Shape;109;p21"/>
          <p:cNvSpPr txBox="1"/>
          <p:nvPr>
            <p:ph idx="1" type="subTitle"/>
          </p:nvPr>
        </p:nvSpPr>
        <p:spPr>
          <a:xfrm>
            <a:off x="344250" y="2483575"/>
            <a:ext cx="8455500" cy="23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First program all developers build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We will go over the new school console apps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As well as the old school console apps and how they work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ctrTitle"/>
          </p:nvPr>
        </p:nvSpPr>
        <p:spPr>
          <a:xfrm>
            <a:off x="311700" y="276400"/>
            <a:ext cx="8520600" cy="138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Visual Studio Walk through</a:t>
            </a:r>
            <a:endParaRPr sz="4000"/>
          </a:p>
        </p:txBody>
      </p:sp>
      <p:sp>
        <p:nvSpPr>
          <p:cNvPr id="115" name="Google Shape;115;p22"/>
          <p:cNvSpPr txBox="1"/>
          <p:nvPr>
            <p:ph idx="1" type="subTitle"/>
          </p:nvPr>
        </p:nvSpPr>
        <p:spPr>
          <a:xfrm>
            <a:off x="311700" y="1876150"/>
            <a:ext cx="8520600" cy="304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I will give you a demo walk through on how visual studio works, this will be just the basics for more detailed information please refer to documentation.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If you have any questions, please do send me an email and raise it in our any of our community channels 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ctrTitle"/>
          </p:nvPr>
        </p:nvSpPr>
        <p:spPr>
          <a:xfrm>
            <a:off x="311700" y="445325"/>
            <a:ext cx="8520600" cy="104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What to do if you get stuck</a:t>
            </a:r>
            <a:endParaRPr sz="4000"/>
          </a:p>
        </p:txBody>
      </p:sp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311700" y="1592625"/>
            <a:ext cx="8520600" cy="338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The main focus on this course is to help you learn the fundamentals. </a:t>
            </a:r>
            <a:br>
              <a:rPr lang="en" sz="1800"/>
            </a:b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If you get stuck </a:t>
            </a:r>
            <a:r>
              <a:rPr lang="en" sz="1800"/>
              <a:t>please raise your hand and ask questions. Send me emails, speak to your fellow peers in the course in our community channels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Google and ChatGPT is your friend, please always refer your questions here first before sending it to the group or sending an email. 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ctrTitle"/>
          </p:nvPr>
        </p:nvSpPr>
        <p:spPr>
          <a:xfrm>
            <a:off x="194500" y="152525"/>
            <a:ext cx="8637900" cy="193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00"/>
              <a:t>How will this course help you become employable in the software developer / engineering space</a:t>
            </a:r>
            <a:endParaRPr sz="4000"/>
          </a:p>
        </p:txBody>
      </p:sp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311700" y="2416525"/>
            <a:ext cx="8520600" cy="262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I have been where you are, and know the ins and outs of what companies look for when interviewing to fill a role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I will provide you with all the tools, you need to ace them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The tools and skills will include but not limited to the following: 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How </a:t>
            </a:r>
            <a:r>
              <a:rPr lang="en" sz="1600"/>
              <a:t>you can go about finding a potential role, setting up a linkedin profile, setting up a github profile and showing your work off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How to go about gaining your first cloud certifications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Reaching out and developing relationships with recruiters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Doing projects and sharing them with the world  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Providing you with a community of like minded people 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ctrTitle"/>
          </p:nvPr>
        </p:nvSpPr>
        <p:spPr>
          <a:xfrm>
            <a:off x="429600" y="422800"/>
            <a:ext cx="8284800" cy="14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D</a:t>
            </a:r>
            <a:r>
              <a:rPr lang="en" sz="4000"/>
              <a:t>ifferent thing you can build with C# and .NET</a:t>
            </a:r>
            <a:endParaRPr sz="4000"/>
          </a:p>
        </p:txBody>
      </p:sp>
      <p:sp>
        <p:nvSpPr>
          <p:cNvPr id="133" name="Google Shape;133;p25"/>
          <p:cNvSpPr txBox="1"/>
          <p:nvPr>
            <p:ph idx="1" type="subTitle"/>
          </p:nvPr>
        </p:nvSpPr>
        <p:spPr>
          <a:xfrm>
            <a:off x="311700" y="2111975"/>
            <a:ext cx="8520600" cy="265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Web Apis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Cloud Native Apps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Native Mobile Apps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Websites / Web Apps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Games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And Much more, all of which are cross platform. Meaning they work for all devices and operating systems.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ctrTitle"/>
          </p:nvPr>
        </p:nvSpPr>
        <p:spPr>
          <a:xfrm>
            <a:off x="429600" y="422800"/>
            <a:ext cx="8284800" cy="14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The End</a:t>
            </a:r>
            <a:endParaRPr sz="4000"/>
          </a:p>
        </p:txBody>
      </p:sp>
      <p:sp>
        <p:nvSpPr>
          <p:cNvPr id="139" name="Google Shape;139;p26"/>
          <p:cNvSpPr txBox="1"/>
          <p:nvPr>
            <p:ph idx="1" type="subTitle"/>
          </p:nvPr>
        </p:nvSpPr>
        <p:spPr>
          <a:xfrm>
            <a:off x="311700" y="2111975"/>
            <a:ext cx="8520600" cy="265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</a:t>
            </a:r>
            <a:r>
              <a:rPr lang="en"/>
              <a:t>oin Me in the next module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